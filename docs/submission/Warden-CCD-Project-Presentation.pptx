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platform claim: one repeatable path takes a service from source to a running workload, with evidence at each hand-off. The platform, not the sample services, is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motivated by software supply-chain incidents and by the operational gap between a successful build and a safe deployment. A valid signature proves provenance but does not, on its own, make the runtime safe. Sources: in-toto and SLSA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honest project summary. The controlled attack suite tests Deny-mode policy copies, while live image verification remains Audit. The Azure database composition has been implemented but is not yet live-tested.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Argo CD follows Git as the source of desired state. CI never receives cluster credentials. The trust path includes signatures and attestations, policy checks and progressive delivery. This reflects GitOps principles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job-level permissions: only sign-attest gets id-token: write and that job does not run project code. CI has no kubeconfig and does not invoke kubectl. The promoter changes one digest in Git; Argo CD pulls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digest and pod hygiene policies are in Deny. Image verification is not. On the pinned Kyverno release, transient fetch failures and webhook timeouts can reject legitimate Pods, so the project keeps that policy in Audit until readiness criteria pass on kind and 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 was run five times on kind. Median end-to-end time was 8.6 minutes and no manual steps were required. Azure runs and the hand-timed baseline were not completed; keep them listed as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14 named attack scenarios plus a legitimate workload control, for 15 tests. Both kind and AKS runs passed. These were policy tests in Deny mode, not a claim that the live cluster refuses unverifiable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experiment series distinct: E3 historical kind runs had 10 of 10 faults abort and 10 of 10 healthy promotions. The app-only E5 repeat had four injected-error faults abort at a 147.6-second median, twelve healthy measured canaries promoted, and four fixes promoted. The injected canary affected a median 0.39 percent of requests. Google SRE describes canary release practice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E4 measurements both used CloudNativePG. The Azure Flexible Server code is in open review PRs and has not been live-tested. Do not describe the managed backend as completed until a service Pod connects and deletion plus teardown have been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app-only batch records 20 deployments, 16 successful and four injected failures, with a 12.5-minute median lead time and 12.6-minute median recovery. The 20 percent change-failure and rework rates are produced by the experiment schedule; they are not a measure of routine team performance. DORA metric definitions are grounded in Accelerate research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E6 met its target: twelve of thirteen local rebuilds succeeded; five Azure rebuilds succeeded from an empty subscription. Four failed Azure attempts are kept and explained in the ledger. The 2026-10-27 fresh local run took 869 seconds; 23 of 23 applications became Synced/Healthy and all four services returned HTTP 200. Its ledger row marks the worktrees dirty because local instruction files were untracked.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E8 measured image verification at 14–15 seconds per warm Pod, similarly on kind and AKS. The webhook timeout is 30 seconds. Transient failures and retries make the remaining margin insufficient for a reliable fail-closed policy. Kyverno stays pinned; this project does not upgrade it to meet the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examples to explain rigor: a test found three operational mismatches, and each was fixed and remeasured. The canary traffic issue is described in the evaluation record; the report also discusses policy-mode and DORA counting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gate slide. Current review branches include the Azure implementation but are not merged or live-tested. The user asked to keep the Kyverno version unchanged. M3 depends on measured reliability criteria, not just changing policy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emphasizing what is already measured and what remains open. Do not say the synopsis is fully met until the managed Azure database connects from a service Pod and the live image-verification gate is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references are papers, standards and technical articles. They are intended as design inspirations, not as evidence that Warden itself achieved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6F8FA"/>
        </a:solidFill>
      </p:bgPr>
    </p:bg>
    <p:spTree>
      <p:nvGrpSpPr>
        <p:cNvPr id="1" name=""/>
        <p:cNvGrpSpPr/>
        <p:nvPr/>
      </p:nvGrpSpPr>
      <p:grpSpPr>
        <a:xfrm>
          <a:off x="0" y="0"/>
          <a:ext cx="0" cy="0"/>
          <a:chOff x="0" y="0"/>
          <a:chExt cx="0" cy="0"/>
        </a:xfrm>
      </p:grpSpPr>
      <p:sp>
        <p:nvSpPr>
          <p:cNvPr id="2" name="Text 0"/>
          <p:cNvSpPr txBox="1"/>
          <p:nvPr/>
        </p:nvSpPr>
        <p:spPr>
          <a:xfrm>
            <a:off x="530352" y="6510528"/>
            <a:ext cx="3840480" cy="146304"/>
          </a:xfrm>
          <a:prstGeom prst="rect">
            <a:avLst/>
          </a:prstGeom>
          <a:noFill/>
          <a:ln/>
        </p:spPr>
        <p:txBody>
          <a:bodyPr wrap="square" lIns="0" tIns="0" rIns="0" bIns="0" rtlCol="0" anchor="ctr"/>
          <a:lstStyle/>
          <a:p>
            <a:pPr indent="0" marL="0">
              <a:buNone/>
            </a:pPr>
            <a:r>
              <a:rPr lang="en-US" sz="900" dirty="0">
                <a:solidFill>
                  <a:srgbClr val="75808D"/>
                </a:solidFill>
                <a:latin typeface="Calibri" pitchFamily="34" charset="0"/>
                <a:ea typeface="Calibri" pitchFamily="34" charset="-122"/>
                <a:cs typeface="Calibri" pitchFamily="34" charset="-120"/>
              </a:rPr>
              <a:t>WARDEN  /  CCD MINI PROJECT</a:t>
            </a:r>
            <a:endParaRPr lang="en-US" sz="9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12B"/>
        </a:solidFill>
      </p:bgPr>
    </p:bg>
    <p:spTree>
      <p:nvGrpSpPr>
        <p:cNvPr id="1" name=""/>
        <p:cNvGrpSpPr/>
        <p:nvPr/>
      </p:nvGrpSpPr>
      <p:grpSpPr>
        <a:xfrm>
          <a:off x="0" y="0"/>
          <a:ext cx="0" cy="0"/>
          <a:chOff x="0" y="0"/>
          <a:chExt cx="0" cy="0"/>
        </a:xfrm>
      </p:grpSpPr>
      <p:sp>
        <p:nvSpPr>
          <p:cNvPr id="2" name="Text 0"/>
          <p:cNvSpPr txBox="1"/>
          <p:nvPr/>
        </p:nvSpPr>
        <p:spPr>
          <a:xfrm>
            <a:off x="713232" y="786384"/>
            <a:ext cx="4937760" cy="768096"/>
          </a:xfrm>
          <a:prstGeom prst="rect">
            <a:avLst/>
          </a:prstGeom>
          <a:noFill/>
          <a:ln/>
        </p:spPr>
        <p:txBody>
          <a:bodyPr wrap="square" lIns="0" tIns="0" rIns="0" bIns="0" rtlCol="0" anchor="ctr">
            <a:normAutofit/>
          </a:bodyPr>
          <a:lstStyle/>
          <a:p>
            <a:pPr algn="l" indent="0" marL="0">
              <a:buNone/>
            </a:pPr>
            <a:r>
              <a:rPr lang="en-US" sz="4800" b="1" dirty="0">
                <a:solidFill>
                  <a:srgbClr val="FFFFFF"/>
                </a:solidFill>
                <a:latin typeface="Cambria" pitchFamily="34" charset="0"/>
                <a:ea typeface="Cambria" pitchFamily="34" charset="-122"/>
                <a:cs typeface="Cambria" pitchFamily="34" charset="-120"/>
              </a:rPr>
              <a:t>WARDEN</a:t>
            </a:r>
            <a:endParaRPr lang="en-US" sz="4800" dirty="0"/>
          </a:p>
        </p:txBody>
      </p:sp>
      <p:sp>
        <p:nvSpPr>
          <p:cNvPr id="3" name="Text 1"/>
          <p:cNvSpPr txBox="1"/>
          <p:nvPr/>
        </p:nvSpPr>
        <p:spPr>
          <a:xfrm>
            <a:off x="749808" y="1773936"/>
            <a:ext cx="6035040" cy="548640"/>
          </a:xfrm>
          <a:prstGeom prst="rect">
            <a:avLst/>
          </a:prstGeom>
          <a:noFill/>
          <a:ln/>
        </p:spPr>
        <p:txBody>
          <a:bodyPr wrap="square" lIns="0" tIns="0" rIns="0" bIns="0" rtlCol="0" anchor="ctr">
            <a:normAutofit/>
          </a:bodyPr>
          <a:lstStyle/>
          <a:p>
            <a:pPr algn="l" indent="0" marL="0">
              <a:buNone/>
            </a:pPr>
            <a:r>
              <a:rPr lang="en-US" sz="2700" b="1" dirty="0">
                <a:solidFill>
                  <a:srgbClr val="B9E769"/>
                </a:solidFill>
                <a:latin typeface="Cambria" pitchFamily="34" charset="0"/>
                <a:ea typeface="Cambria" pitchFamily="34" charset="-122"/>
                <a:cs typeface="Cambria" pitchFamily="34" charset="-120"/>
              </a:rPr>
              <a:t>Verifiable delivery for Kubernetes</a:t>
            </a:r>
            <a:endParaRPr lang="en-US" sz="2700" dirty="0"/>
          </a:p>
        </p:txBody>
      </p:sp>
      <p:sp>
        <p:nvSpPr>
          <p:cNvPr id="4" name="Text 2"/>
          <p:cNvSpPr txBox="1"/>
          <p:nvPr/>
        </p:nvSpPr>
        <p:spPr>
          <a:xfrm>
            <a:off x="768096" y="2542032"/>
            <a:ext cx="5303520" cy="822960"/>
          </a:xfrm>
          <a:prstGeom prst="rect">
            <a:avLst/>
          </a:prstGeom>
          <a:noFill/>
          <a:ln/>
        </p:spPr>
        <p:txBody>
          <a:bodyPr wrap="square" lIns="0" tIns="0" rIns="0" bIns="0" rtlCol="0" anchor="t">
            <a:normAutofit/>
          </a:bodyPr>
          <a:lstStyle/>
          <a:p>
            <a:pPr algn="l" indent="0" marL="0">
              <a:buNone/>
            </a:pPr>
            <a:r>
              <a:rPr lang="en-US" sz="1800" dirty="0">
                <a:solidFill>
                  <a:srgbClr val="D9E1E7"/>
                </a:solidFill>
                <a:latin typeface="Calibri" pitchFamily="34" charset="0"/>
                <a:ea typeface="Calibri" pitchFamily="34" charset="-122"/>
                <a:cs typeface="Calibri" pitchFamily="34" charset="-120"/>
              </a:rPr>
              <a:t>A delivery platform that connects build provenance, policy checks, progressive rollout and recovery.</a:t>
            </a:r>
            <a:endParaRPr lang="en-US" sz="1800" dirty="0"/>
          </a:p>
        </p:txBody>
      </p:sp>
      <p:sp>
        <p:nvSpPr>
          <p:cNvPr id="5" name="Shape 3"/>
          <p:cNvSpPr/>
          <p:nvPr/>
        </p:nvSpPr>
        <p:spPr>
          <a:xfrm>
            <a:off x="768096" y="3767328"/>
            <a:ext cx="2450592" cy="310896"/>
          </a:xfrm>
          <a:prstGeom prst="roundRect">
            <a:avLst>
              <a:gd name="adj" fmla="val 35294"/>
            </a:avLst>
          </a:prstGeom>
          <a:solidFill>
            <a:srgbClr val="263340"/>
          </a:solidFill>
          <a:ln w="12700">
            <a:solidFill>
              <a:srgbClr val="263340">
                <a:alpha val="0"/>
              </a:srgbClr>
            </a:solidFill>
            <a:prstDash val="solid"/>
          </a:ln>
        </p:spPr>
      </p:sp>
      <p:sp>
        <p:nvSpPr>
          <p:cNvPr id="6" name="Text 4"/>
          <p:cNvSpPr txBox="1"/>
          <p:nvPr/>
        </p:nvSpPr>
        <p:spPr>
          <a:xfrm>
            <a:off x="859536" y="3776472"/>
            <a:ext cx="2267712" cy="27432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CCD MINI PROJECT  •  BATCH C2</a:t>
            </a:r>
            <a:endParaRPr lang="en-US" sz="1000" dirty="0"/>
          </a:p>
        </p:txBody>
      </p:sp>
      <p:sp>
        <p:nvSpPr>
          <p:cNvPr id="7" name="Text 5"/>
          <p:cNvSpPr txBox="1"/>
          <p:nvPr/>
        </p:nvSpPr>
        <p:spPr>
          <a:xfrm>
            <a:off x="768096" y="5376672"/>
            <a:ext cx="5760720" cy="347472"/>
          </a:xfrm>
          <a:prstGeom prst="rect">
            <a:avLst/>
          </a:prstGeom>
          <a:noFill/>
          <a:ln/>
        </p:spPr>
        <p:txBody>
          <a:bodyPr wrap="square" lIns="0" tIns="0" rIns="0" bIns="0" rtlCol="0" anchor="ctr">
            <a:normAutofit/>
          </a:bodyPr>
          <a:lstStyle/>
          <a:p>
            <a:pPr algn="l" indent="0" marL="0">
              <a:buNone/>
            </a:pPr>
            <a:r>
              <a:rPr lang="en-US" sz="1300" dirty="0">
                <a:solidFill>
                  <a:srgbClr val="B6C1CB"/>
                </a:solidFill>
                <a:latin typeface="Calibri" pitchFamily="34" charset="0"/>
                <a:ea typeface="Calibri" pitchFamily="34" charset="-122"/>
                <a:cs typeface="Calibri" pitchFamily="34" charset="-120"/>
              </a:rPr>
              <a:t>Abhyuday Gupta  ·  Aditya Chetan Thakur  ·  Sankalp Arya  ·  Shaurya Jain</a:t>
            </a:r>
            <a:endParaRPr lang="en-US" sz="1300" dirty="0"/>
          </a:p>
        </p:txBody>
      </p:sp>
      <p:sp>
        <p:nvSpPr>
          <p:cNvPr id="8" name="Shape 6"/>
          <p:cNvSpPr/>
          <p:nvPr/>
        </p:nvSpPr>
        <p:spPr>
          <a:xfrm>
            <a:off x="7699248" y="1481328"/>
            <a:ext cx="1645920" cy="868680"/>
          </a:xfrm>
          <a:prstGeom prst="line">
            <a:avLst/>
          </a:prstGeom>
          <a:noFill/>
          <a:ln w="15240">
            <a:solidFill>
              <a:srgbClr val="50616F"/>
            </a:solidFill>
            <a:prstDash val="solid"/>
            <a:tailEnd type="none"/>
          </a:ln>
        </p:spPr>
      </p:sp>
      <p:sp>
        <p:nvSpPr>
          <p:cNvPr id="9" name="Shape 7"/>
          <p:cNvSpPr/>
          <p:nvPr/>
        </p:nvSpPr>
        <p:spPr>
          <a:xfrm>
            <a:off x="7699248" y="1481328"/>
            <a:ext cx="320040" cy="2240280"/>
          </a:xfrm>
          <a:prstGeom prst="line">
            <a:avLst/>
          </a:prstGeom>
          <a:noFill/>
          <a:ln w="15240">
            <a:solidFill>
              <a:srgbClr val="50616F"/>
            </a:solidFill>
            <a:prstDash val="solid"/>
            <a:tailEnd type="none"/>
          </a:ln>
        </p:spPr>
      </p:sp>
      <p:sp>
        <p:nvSpPr>
          <p:cNvPr id="10" name="Shape 8"/>
          <p:cNvSpPr/>
          <p:nvPr/>
        </p:nvSpPr>
        <p:spPr>
          <a:xfrm>
            <a:off x="9345168" y="2350008"/>
            <a:ext cx="-1325880" cy="1371600"/>
          </a:xfrm>
          <a:prstGeom prst="line">
            <a:avLst/>
          </a:prstGeom>
          <a:noFill/>
          <a:ln w="15240">
            <a:solidFill>
              <a:srgbClr val="50616F"/>
            </a:solidFill>
            <a:prstDash val="solid"/>
            <a:tailEnd type="none"/>
          </a:ln>
        </p:spPr>
      </p:sp>
      <p:sp>
        <p:nvSpPr>
          <p:cNvPr id="11" name="Shape 9"/>
          <p:cNvSpPr/>
          <p:nvPr/>
        </p:nvSpPr>
        <p:spPr>
          <a:xfrm>
            <a:off x="9345168" y="2350008"/>
            <a:ext cx="960120" cy="2011680"/>
          </a:xfrm>
          <a:prstGeom prst="line">
            <a:avLst/>
          </a:prstGeom>
          <a:noFill/>
          <a:ln w="15240">
            <a:solidFill>
              <a:srgbClr val="50616F"/>
            </a:solidFill>
            <a:prstDash val="solid"/>
            <a:tailEnd type="none"/>
          </a:ln>
        </p:spPr>
      </p:sp>
      <p:sp>
        <p:nvSpPr>
          <p:cNvPr id="12" name="Shape 10"/>
          <p:cNvSpPr/>
          <p:nvPr/>
        </p:nvSpPr>
        <p:spPr>
          <a:xfrm>
            <a:off x="8019288" y="3721608"/>
            <a:ext cx="594360" cy="1737360"/>
          </a:xfrm>
          <a:prstGeom prst="line">
            <a:avLst/>
          </a:prstGeom>
          <a:noFill/>
          <a:ln w="15240">
            <a:solidFill>
              <a:srgbClr val="50616F"/>
            </a:solidFill>
            <a:prstDash val="solid"/>
            <a:tailEnd type="none"/>
          </a:ln>
        </p:spPr>
      </p:sp>
      <p:sp>
        <p:nvSpPr>
          <p:cNvPr id="13" name="Shape 11"/>
          <p:cNvSpPr/>
          <p:nvPr/>
        </p:nvSpPr>
        <p:spPr>
          <a:xfrm>
            <a:off x="10305288" y="4361688"/>
            <a:ext cx="-1691640" cy="1097280"/>
          </a:xfrm>
          <a:prstGeom prst="line">
            <a:avLst/>
          </a:prstGeom>
          <a:noFill/>
          <a:ln w="15240">
            <a:solidFill>
              <a:srgbClr val="50616F"/>
            </a:solidFill>
            <a:prstDash val="solid"/>
            <a:tailEnd type="none"/>
          </a:ln>
        </p:spPr>
      </p:sp>
      <p:sp>
        <p:nvSpPr>
          <p:cNvPr id="14" name="Shape 12"/>
          <p:cNvSpPr/>
          <p:nvPr/>
        </p:nvSpPr>
        <p:spPr>
          <a:xfrm>
            <a:off x="9345168" y="2350008"/>
            <a:ext cx="1600200" cy="-1069848"/>
          </a:xfrm>
          <a:prstGeom prst="line">
            <a:avLst/>
          </a:prstGeom>
          <a:noFill/>
          <a:ln w="15240">
            <a:solidFill>
              <a:srgbClr val="50616F"/>
            </a:solidFill>
            <a:prstDash val="solid"/>
            <a:tailEnd type="none"/>
          </a:ln>
        </p:spPr>
      </p:sp>
      <p:sp>
        <p:nvSpPr>
          <p:cNvPr id="15" name="Shape 13"/>
          <p:cNvSpPr/>
          <p:nvPr/>
        </p:nvSpPr>
        <p:spPr>
          <a:xfrm>
            <a:off x="10305288" y="4361688"/>
            <a:ext cx="640080" cy="-3081528"/>
          </a:xfrm>
          <a:prstGeom prst="line">
            <a:avLst/>
          </a:prstGeom>
          <a:noFill/>
          <a:ln w="15240">
            <a:solidFill>
              <a:srgbClr val="50616F"/>
            </a:solidFill>
            <a:prstDash val="solid"/>
            <a:tailEnd type="none"/>
          </a:ln>
        </p:spPr>
      </p:sp>
      <p:sp>
        <p:nvSpPr>
          <p:cNvPr id="16" name="Shape 14"/>
          <p:cNvSpPr/>
          <p:nvPr/>
        </p:nvSpPr>
        <p:spPr>
          <a:xfrm>
            <a:off x="7498080" y="1280160"/>
            <a:ext cx="347472" cy="347472"/>
          </a:xfrm>
          <a:prstGeom prst="ellipse">
            <a:avLst>
              <a:gd name="adj" fmla="val 31579"/>
            </a:avLst>
          </a:prstGeom>
          <a:solidFill>
            <a:srgbClr val="56B8AA"/>
          </a:solidFill>
          <a:ln w="12700">
            <a:solidFill>
              <a:srgbClr val="56B8AA">
                <a:alpha val="0"/>
              </a:srgbClr>
            </a:solidFill>
            <a:prstDash val="solid"/>
          </a:ln>
        </p:spPr>
      </p:sp>
      <p:sp>
        <p:nvSpPr>
          <p:cNvPr id="17" name="Shape 15"/>
          <p:cNvSpPr/>
          <p:nvPr/>
        </p:nvSpPr>
        <p:spPr>
          <a:xfrm>
            <a:off x="9144000" y="2148840"/>
            <a:ext cx="457200" cy="457200"/>
          </a:xfrm>
          <a:prstGeom prst="ellipse">
            <a:avLst>
              <a:gd name="adj" fmla="val 24000"/>
            </a:avLst>
          </a:prstGeom>
          <a:solidFill>
            <a:srgbClr val="B9E769"/>
          </a:solidFill>
          <a:ln w="12700">
            <a:solidFill>
              <a:srgbClr val="B9E769">
                <a:alpha val="0"/>
              </a:srgbClr>
            </a:solidFill>
            <a:prstDash val="solid"/>
          </a:ln>
        </p:spPr>
      </p:sp>
      <p:sp>
        <p:nvSpPr>
          <p:cNvPr id="18" name="Shape 16"/>
          <p:cNvSpPr/>
          <p:nvPr/>
        </p:nvSpPr>
        <p:spPr>
          <a:xfrm>
            <a:off x="7818120" y="3520440"/>
            <a:ext cx="347472" cy="347472"/>
          </a:xfrm>
          <a:prstGeom prst="ellipse">
            <a:avLst>
              <a:gd name="adj" fmla="val 31579"/>
            </a:avLst>
          </a:prstGeom>
          <a:solidFill>
            <a:srgbClr val="56B8AA"/>
          </a:solidFill>
          <a:ln w="12700">
            <a:solidFill>
              <a:srgbClr val="56B8AA">
                <a:alpha val="0"/>
              </a:srgbClr>
            </a:solidFill>
            <a:prstDash val="solid"/>
          </a:ln>
        </p:spPr>
      </p:sp>
      <p:sp>
        <p:nvSpPr>
          <p:cNvPr id="19" name="Shape 17"/>
          <p:cNvSpPr/>
          <p:nvPr/>
        </p:nvSpPr>
        <p:spPr>
          <a:xfrm>
            <a:off x="10104120" y="4160520"/>
            <a:ext cx="347472" cy="347472"/>
          </a:xfrm>
          <a:prstGeom prst="ellipse">
            <a:avLst>
              <a:gd name="adj" fmla="val 31579"/>
            </a:avLst>
          </a:prstGeom>
          <a:solidFill>
            <a:srgbClr val="56B8AA"/>
          </a:solidFill>
          <a:ln w="12700">
            <a:solidFill>
              <a:srgbClr val="56B8AA">
                <a:alpha val="0"/>
              </a:srgbClr>
            </a:solidFill>
            <a:prstDash val="solid"/>
          </a:ln>
        </p:spPr>
      </p:sp>
      <p:sp>
        <p:nvSpPr>
          <p:cNvPr id="20" name="Shape 18"/>
          <p:cNvSpPr/>
          <p:nvPr/>
        </p:nvSpPr>
        <p:spPr>
          <a:xfrm>
            <a:off x="8412480" y="5257800"/>
            <a:ext cx="457200" cy="457200"/>
          </a:xfrm>
          <a:prstGeom prst="ellipse">
            <a:avLst>
              <a:gd name="adj" fmla="val 24000"/>
            </a:avLst>
          </a:prstGeom>
          <a:solidFill>
            <a:srgbClr val="B9E769"/>
          </a:solidFill>
          <a:ln w="12700">
            <a:solidFill>
              <a:srgbClr val="B9E769">
                <a:alpha val="0"/>
              </a:srgbClr>
            </a:solidFill>
            <a:prstDash val="solid"/>
          </a:ln>
        </p:spPr>
      </p:sp>
      <p:sp>
        <p:nvSpPr>
          <p:cNvPr id="21" name="Shape 19"/>
          <p:cNvSpPr/>
          <p:nvPr/>
        </p:nvSpPr>
        <p:spPr>
          <a:xfrm>
            <a:off x="10744200" y="1078992"/>
            <a:ext cx="347472" cy="347472"/>
          </a:xfrm>
          <a:prstGeom prst="ellipse">
            <a:avLst>
              <a:gd name="adj" fmla="val 31579"/>
            </a:avLst>
          </a:prstGeom>
          <a:solidFill>
            <a:srgbClr val="56B8AA"/>
          </a:solidFill>
          <a:ln w="12700">
            <a:solidFill>
              <a:srgbClr val="56B8AA">
                <a:alpha val="0"/>
              </a:srgbClr>
            </a:solidFill>
            <a:prstDash val="solid"/>
          </a:ln>
        </p:spPr>
      </p:sp>
      <p:sp>
        <p:nvSpPr>
          <p:cNvPr id="22" name="Text 20"/>
          <p:cNvSpPr txBox="1"/>
          <p:nvPr/>
        </p:nvSpPr>
        <p:spPr>
          <a:xfrm>
            <a:off x="7498080" y="5833872"/>
            <a:ext cx="3566160" cy="512064"/>
          </a:xfrm>
          <a:prstGeom prst="rect">
            <a:avLst/>
          </a:prstGeom>
          <a:noFill/>
          <a:ln/>
        </p:spPr>
        <p:txBody>
          <a:bodyPr wrap="square" lIns="0" tIns="0" rIns="0" bIns="0" rtlCol="0" anchor="ctr">
            <a:normAutofit/>
          </a:bodyPr>
          <a:lstStyle/>
          <a:p>
            <a:pPr algn="ctr" indent="0" marL="0">
              <a:buNone/>
            </a:pPr>
            <a:r>
              <a:rPr lang="en-US" sz="1400" dirty="0">
                <a:solidFill>
                  <a:srgbClr val="C7D3DC"/>
                </a:solidFill>
                <a:latin typeface="Calibri" pitchFamily="34" charset="0"/>
                <a:ea typeface="Calibri" pitchFamily="34" charset="-122"/>
                <a:cs typeface="Calibri" pitchFamily="34" charset="-120"/>
              </a:rPr>
              <a:t>From source commit</a:t>
            </a:r>
            <a:endParaRPr lang="en-US" sz="1400" dirty="0"/>
          </a:p>
          <a:p>
            <a:pPr algn="ctr" indent="0" marL="0">
              <a:buNone/>
            </a:pPr>
            <a:r>
              <a:rPr lang="en-US" sz="1400" dirty="0">
                <a:solidFill>
                  <a:srgbClr val="C7D3DC"/>
                </a:solidFill>
                <a:latin typeface="Calibri" pitchFamily="34" charset="0"/>
                <a:ea typeface="Calibri" pitchFamily="34" charset="-122"/>
                <a:cs typeface="Calibri" pitchFamily="34" charset="-120"/>
              </a:rPr>
              <a:t>to healthy workload</a:t>
            </a:r>
            <a:endParaRPr lang="en-US" sz="1400" dirty="0"/>
          </a:p>
        </p:txBody>
      </p:sp>
      <p:sp>
        <p:nvSpPr>
          <p:cNvPr id="23" name="Text 21"/>
          <p:cNvSpPr txBox="1"/>
          <p:nvPr/>
        </p:nvSpPr>
        <p:spPr>
          <a:xfrm>
            <a:off x="768096" y="6263640"/>
            <a:ext cx="6217920" cy="228600"/>
          </a:xfrm>
          <a:prstGeom prst="rect">
            <a:avLst/>
          </a:prstGeom>
          <a:noFill/>
          <a:ln/>
        </p:spPr>
        <p:txBody>
          <a:bodyPr wrap="square" lIns="0" tIns="0" rIns="0" bIns="0" rtlCol="0" anchor="ctr">
            <a:normAutofit/>
          </a:bodyPr>
          <a:lstStyle/>
          <a:p>
            <a:pPr algn="l" indent="0" marL="0">
              <a:buNone/>
            </a:pPr>
            <a:r>
              <a:rPr lang="en-US" sz="1000" dirty="0">
                <a:solidFill>
                  <a:srgbClr val="91A0AC"/>
                </a:solidFill>
                <a:latin typeface="Calibri" pitchFamily="34" charset="0"/>
                <a:ea typeface="Calibri" pitchFamily="34" charset="-122"/>
                <a:cs typeface="Calibri" pitchFamily="34" charset="-120"/>
              </a:rPr>
              <a:t>Project results and remaining verification gates  ·  27 October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WHY WARDEN</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Software delivery has three connected trust gaps</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A signature is useful only when the build, admission decision and runtime behavior are connected.</a:t>
            </a:r>
            <a:endParaRPr lang="en-US" sz="1400" dirty="0"/>
          </a:p>
        </p:txBody>
      </p:sp>
      <p:sp>
        <p:nvSpPr>
          <p:cNvPr id="5" name="Shape 3"/>
          <p:cNvSpPr/>
          <p:nvPr/>
        </p:nvSpPr>
        <p:spPr>
          <a:xfrm>
            <a:off x="621792" y="2011680"/>
            <a:ext cx="3493008" cy="2322576"/>
          </a:xfrm>
          <a:prstGeom prst="roundRect">
            <a:avLst>
              <a:gd name="adj" fmla="val 4724"/>
            </a:avLst>
          </a:prstGeom>
          <a:solidFill>
            <a:srgbClr val="FFFFFF"/>
          </a:solidFill>
          <a:ln w="12700">
            <a:solidFill>
              <a:srgbClr val="DCE3E8"/>
            </a:solidFill>
            <a:prstDash val="solid"/>
          </a:ln>
        </p:spPr>
      </p:sp>
      <p:sp>
        <p:nvSpPr>
          <p:cNvPr id="6" name="Shape 4"/>
          <p:cNvSpPr/>
          <p:nvPr/>
        </p:nvSpPr>
        <p:spPr>
          <a:xfrm>
            <a:off x="822960" y="2231136"/>
            <a:ext cx="256032" cy="256032"/>
          </a:xfrm>
          <a:prstGeom prst="ellipse">
            <a:avLst>
              <a:gd name="adj" fmla="val 42857"/>
            </a:avLst>
          </a:prstGeom>
          <a:solidFill>
            <a:srgbClr val="148A83"/>
          </a:solidFill>
          <a:ln w="12700">
            <a:solidFill>
              <a:srgbClr val="148A83">
                <a:alpha val="0"/>
              </a:srgbClr>
            </a:solidFill>
            <a:prstDash val="solid"/>
          </a:ln>
        </p:spPr>
      </p:sp>
      <p:sp>
        <p:nvSpPr>
          <p:cNvPr id="7" name="Text 5"/>
          <p:cNvSpPr txBox="1"/>
          <p:nvPr/>
        </p:nvSpPr>
        <p:spPr>
          <a:xfrm>
            <a:off x="1197864" y="2185416"/>
            <a:ext cx="2706624"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Origin</a:t>
            </a:r>
            <a:endParaRPr lang="en-US" sz="1800" dirty="0"/>
          </a:p>
        </p:txBody>
      </p:sp>
      <p:sp>
        <p:nvSpPr>
          <p:cNvPr id="8" name="Text 6"/>
          <p:cNvSpPr txBox="1"/>
          <p:nvPr/>
        </p:nvSpPr>
        <p:spPr>
          <a:xfrm>
            <a:off x="850392" y="2715768"/>
            <a:ext cx="3035808" cy="1463040"/>
          </a:xfrm>
          <a:prstGeom prst="rect">
            <a:avLst/>
          </a:prstGeom>
          <a:noFill/>
          <a:ln/>
        </p:spPr>
        <p:txBody>
          <a:bodyPr wrap="square" lIns="0" tIns="0" rIns="0" bIns="0" rtlCol="0" anchor="t">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Can the running image be traced to a reviewed source change and a known build workflow?</a:t>
            </a:r>
            <a:endParaRPr lang="en-US" sz="1400" dirty="0"/>
          </a:p>
        </p:txBody>
      </p:sp>
      <p:sp>
        <p:nvSpPr>
          <p:cNvPr id="9" name="Shape 7"/>
          <p:cNvSpPr/>
          <p:nvPr/>
        </p:nvSpPr>
        <p:spPr>
          <a:xfrm>
            <a:off x="4352544" y="2011680"/>
            <a:ext cx="3493008" cy="2322576"/>
          </a:xfrm>
          <a:prstGeom prst="roundRect">
            <a:avLst>
              <a:gd name="adj" fmla="val 4724"/>
            </a:avLst>
          </a:prstGeom>
          <a:solidFill>
            <a:srgbClr val="FFFFFF"/>
          </a:solidFill>
          <a:ln w="12700">
            <a:solidFill>
              <a:srgbClr val="DCE3E8"/>
            </a:solidFill>
            <a:prstDash val="solid"/>
          </a:ln>
        </p:spPr>
      </p:sp>
      <p:sp>
        <p:nvSpPr>
          <p:cNvPr id="10" name="Shape 8"/>
          <p:cNvSpPr/>
          <p:nvPr/>
        </p:nvSpPr>
        <p:spPr>
          <a:xfrm>
            <a:off x="4553712" y="2231136"/>
            <a:ext cx="256032" cy="256032"/>
          </a:xfrm>
          <a:prstGeom prst="ellipse">
            <a:avLst>
              <a:gd name="adj" fmla="val 42857"/>
            </a:avLst>
          </a:prstGeom>
          <a:solidFill>
            <a:srgbClr val="E7AD4B"/>
          </a:solidFill>
          <a:ln w="12700">
            <a:solidFill>
              <a:srgbClr val="E7AD4B">
                <a:alpha val="0"/>
              </a:srgbClr>
            </a:solidFill>
            <a:prstDash val="solid"/>
          </a:ln>
        </p:spPr>
      </p:sp>
      <p:sp>
        <p:nvSpPr>
          <p:cNvPr id="11" name="Text 9"/>
          <p:cNvSpPr txBox="1"/>
          <p:nvPr/>
        </p:nvSpPr>
        <p:spPr>
          <a:xfrm>
            <a:off x="4928616" y="2185416"/>
            <a:ext cx="2706624"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Admission</a:t>
            </a:r>
            <a:endParaRPr lang="en-US" sz="1800" dirty="0"/>
          </a:p>
        </p:txBody>
      </p:sp>
      <p:sp>
        <p:nvSpPr>
          <p:cNvPr id="12" name="Text 10"/>
          <p:cNvSpPr txBox="1"/>
          <p:nvPr/>
        </p:nvSpPr>
        <p:spPr>
          <a:xfrm>
            <a:off x="4581144" y="2715768"/>
            <a:ext cx="3035808" cy="1463040"/>
          </a:xfrm>
          <a:prstGeom prst="rect">
            <a:avLst/>
          </a:prstGeom>
          <a:noFill/>
          <a:ln/>
        </p:spPr>
        <p:txBody>
          <a:bodyPr wrap="square" lIns="0" tIns="0" rIns="0" bIns="0" rtlCol="0" anchor="t">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Will the cluster reject an image that is unsigned, altered or produced by an untrusted builder?</a:t>
            </a:r>
            <a:endParaRPr lang="en-US" sz="1400" dirty="0"/>
          </a:p>
        </p:txBody>
      </p:sp>
      <p:sp>
        <p:nvSpPr>
          <p:cNvPr id="13" name="Shape 11"/>
          <p:cNvSpPr/>
          <p:nvPr/>
        </p:nvSpPr>
        <p:spPr>
          <a:xfrm>
            <a:off x="8083296" y="2011680"/>
            <a:ext cx="3493008" cy="2322576"/>
          </a:xfrm>
          <a:prstGeom prst="roundRect">
            <a:avLst>
              <a:gd name="adj" fmla="val 4724"/>
            </a:avLst>
          </a:prstGeom>
          <a:solidFill>
            <a:srgbClr val="FFFFFF"/>
          </a:solidFill>
          <a:ln w="12700">
            <a:solidFill>
              <a:srgbClr val="DCE3E8"/>
            </a:solidFill>
            <a:prstDash val="solid"/>
          </a:ln>
        </p:spPr>
      </p:sp>
      <p:sp>
        <p:nvSpPr>
          <p:cNvPr id="14" name="Shape 12"/>
          <p:cNvSpPr/>
          <p:nvPr/>
        </p:nvSpPr>
        <p:spPr>
          <a:xfrm>
            <a:off x="8284464" y="2231136"/>
            <a:ext cx="256032" cy="256032"/>
          </a:xfrm>
          <a:prstGeom prst="ellipse">
            <a:avLst>
              <a:gd name="adj" fmla="val 42857"/>
            </a:avLst>
          </a:prstGeom>
          <a:solidFill>
            <a:srgbClr val="D96960"/>
          </a:solidFill>
          <a:ln w="12700">
            <a:solidFill>
              <a:srgbClr val="D96960">
                <a:alpha val="0"/>
              </a:srgbClr>
            </a:solidFill>
            <a:prstDash val="solid"/>
          </a:ln>
        </p:spPr>
      </p:sp>
      <p:sp>
        <p:nvSpPr>
          <p:cNvPr id="15" name="Text 13"/>
          <p:cNvSpPr txBox="1"/>
          <p:nvPr/>
        </p:nvSpPr>
        <p:spPr>
          <a:xfrm>
            <a:off x="8659368" y="2185416"/>
            <a:ext cx="2706624"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Runtime</a:t>
            </a:r>
            <a:endParaRPr lang="en-US" sz="1800" dirty="0"/>
          </a:p>
        </p:txBody>
      </p:sp>
      <p:sp>
        <p:nvSpPr>
          <p:cNvPr id="16" name="Text 14"/>
          <p:cNvSpPr txBox="1"/>
          <p:nvPr/>
        </p:nvSpPr>
        <p:spPr>
          <a:xfrm>
            <a:off x="8311896" y="2715768"/>
            <a:ext cx="3035808" cy="1463040"/>
          </a:xfrm>
          <a:prstGeom prst="rect">
            <a:avLst/>
          </a:prstGeom>
          <a:noFill/>
          <a:ln/>
        </p:spPr>
        <p:txBody>
          <a:bodyPr wrap="square" lIns="0" tIns="0" rIns="0" bIns="0" rtlCol="0" anchor="t">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Can a faulty release be detected and rolled back before it affects most requests?</a:t>
            </a:r>
            <a:endParaRPr lang="en-US" sz="1400" dirty="0"/>
          </a:p>
        </p:txBody>
      </p:sp>
      <p:sp>
        <p:nvSpPr>
          <p:cNvPr id="17" name="Shape 15"/>
          <p:cNvSpPr/>
          <p:nvPr/>
        </p:nvSpPr>
        <p:spPr>
          <a:xfrm>
            <a:off x="2157984" y="5010912"/>
            <a:ext cx="493776" cy="493776"/>
          </a:xfrm>
          <a:prstGeom prst="ellipse">
            <a:avLst>
              <a:gd name="adj" fmla="val 22222"/>
            </a:avLst>
          </a:prstGeom>
          <a:solidFill>
            <a:srgbClr val="148A83"/>
          </a:solidFill>
          <a:ln w="12700">
            <a:solidFill>
              <a:srgbClr val="148A83">
                <a:alpha val="0"/>
              </a:srgbClr>
            </a:solidFill>
            <a:prstDash val="solid"/>
          </a:ln>
        </p:spPr>
      </p:sp>
      <p:sp>
        <p:nvSpPr>
          <p:cNvPr id="18" name="Shape 16"/>
          <p:cNvSpPr/>
          <p:nvPr/>
        </p:nvSpPr>
        <p:spPr>
          <a:xfrm>
            <a:off x="5870448" y="5010912"/>
            <a:ext cx="493776" cy="493776"/>
          </a:xfrm>
          <a:prstGeom prst="ellipse">
            <a:avLst>
              <a:gd name="adj" fmla="val 22222"/>
            </a:avLst>
          </a:prstGeom>
          <a:solidFill>
            <a:srgbClr val="E7AD4B"/>
          </a:solidFill>
          <a:ln w="12700">
            <a:solidFill>
              <a:srgbClr val="E7AD4B">
                <a:alpha val="0"/>
              </a:srgbClr>
            </a:solidFill>
            <a:prstDash val="solid"/>
          </a:ln>
        </p:spPr>
      </p:sp>
      <p:sp>
        <p:nvSpPr>
          <p:cNvPr id="19" name="Shape 17"/>
          <p:cNvSpPr/>
          <p:nvPr/>
        </p:nvSpPr>
        <p:spPr>
          <a:xfrm>
            <a:off x="9601200" y="5010912"/>
            <a:ext cx="493776" cy="493776"/>
          </a:xfrm>
          <a:prstGeom prst="ellipse">
            <a:avLst>
              <a:gd name="adj" fmla="val 22222"/>
            </a:avLst>
          </a:prstGeom>
          <a:solidFill>
            <a:srgbClr val="D96960"/>
          </a:solidFill>
          <a:ln w="12700">
            <a:solidFill>
              <a:srgbClr val="D96960">
                <a:alpha val="0"/>
              </a:srgbClr>
            </a:solidFill>
            <a:prstDash val="solid"/>
          </a:ln>
        </p:spPr>
      </p:sp>
      <p:sp>
        <p:nvSpPr>
          <p:cNvPr id="20" name="Shape 18"/>
          <p:cNvSpPr/>
          <p:nvPr/>
        </p:nvSpPr>
        <p:spPr>
          <a:xfrm>
            <a:off x="2651760" y="5257800"/>
            <a:ext cx="3200400" cy="0"/>
          </a:xfrm>
          <a:prstGeom prst="line">
            <a:avLst/>
          </a:prstGeom>
          <a:noFill/>
          <a:ln w="25400">
            <a:solidFill>
              <a:srgbClr val="DCE3E8"/>
            </a:solidFill>
            <a:prstDash val="solid"/>
            <a:tailEnd type="triangle"/>
          </a:ln>
        </p:spPr>
      </p:sp>
      <p:sp>
        <p:nvSpPr>
          <p:cNvPr id="21" name="Shape 19"/>
          <p:cNvSpPr/>
          <p:nvPr/>
        </p:nvSpPr>
        <p:spPr>
          <a:xfrm>
            <a:off x="6364224" y="5257800"/>
            <a:ext cx="3255264" cy="0"/>
          </a:xfrm>
          <a:prstGeom prst="line">
            <a:avLst/>
          </a:prstGeom>
          <a:noFill/>
          <a:ln w="25400">
            <a:solidFill>
              <a:srgbClr val="DCE3E8"/>
            </a:solidFill>
            <a:prstDash val="solid"/>
            <a:tailEnd type="triangle"/>
          </a:ln>
        </p:spPr>
      </p:sp>
      <p:sp>
        <p:nvSpPr>
          <p:cNvPr id="22" name="Text 20"/>
          <p:cNvSpPr txBox="1"/>
          <p:nvPr/>
        </p:nvSpPr>
        <p:spPr>
          <a:xfrm>
            <a:off x="1920240" y="5797296"/>
            <a:ext cx="8412480" cy="365760"/>
          </a:xfrm>
          <a:prstGeom prst="rect">
            <a:avLst/>
          </a:prstGeom>
          <a:noFill/>
          <a:ln/>
        </p:spPr>
        <p:txBody>
          <a:bodyPr wrap="square" lIns="0" tIns="0" rIns="0" bIns="0" rtlCol="0" anchor="ctr">
            <a:normAutofit/>
          </a:bodyPr>
          <a:lstStyle/>
          <a:p>
            <a:pPr algn="ctr" indent="0" marL="0">
              <a:buNone/>
            </a:pPr>
            <a:r>
              <a:rPr lang="en-US" sz="2100" b="1" dirty="0">
                <a:solidFill>
                  <a:srgbClr val="17212B"/>
                </a:solidFill>
                <a:latin typeface="Cambria" pitchFamily="34" charset="0"/>
                <a:ea typeface="Cambria" pitchFamily="34" charset="-122"/>
                <a:cs typeface="Cambria" pitchFamily="34" charset="-120"/>
              </a:rPr>
              <a:t>Evidence should follow the artifact all the way to the workload.</a:t>
            </a:r>
            <a:endParaRPr lang="en-US" sz="21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SYNOPSIS OUTCOMES</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Four project outcomes were measured</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The scorecard separates verified behavior from the remaining managed-database and enforcement gates.</a:t>
            </a:r>
            <a:endParaRPr lang="en-US" sz="1400" dirty="0"/>
          </a:p>
        </p:txBody>
      </p:sp>
      <p:sp>
        <p:nvSpPr>
          <p:cNvPr id="5" name="Shape 3"/>
          <p:cNvSpPr/>
          <p:nvPr/>
        </p:nvSpPr>
        <p:spPr>
          <a:xfrm>
            <a:off x="749808" y="1901952"/>
            <a:ext cx="438912" cy="438912"/>
          </a:xfrm>
          <a:prstGeom prst="ellipse">
            <a:avLst>
              <a:gd name="adj" fmla="val 25000"/>
            </a:avLst>
          </a:prstGeom>
          <a:solidFill>
            <a:srgbClr val="148A83"/>
          </a:solidFill>
          <a:ln w="12700">
            <a:solidFill>
              <a:srgbClr val="148A83">
                <a:alpha val="0"/>
              </a:srgbClr>
            </a:solidFill>
            <a:prstDash val="solid"/>
          </a:ln>
        </p:spPr>
      </p:sp>
      <p:sp>
        <p:nvSpPr>
          <p:cNvPr id="6" name="Text 4"/>
          <p:cNvSpPr txBox="1"/>
          <p:nvPr/>
        </p:nvSpPr>
        <p:spPr>
          <a:xfrm>
            <a:off x="749808" y="1901952"/>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7" name="Text 5"/>
          <p:cNvSpPr txBox="1"/>
          <p:nvPr/>
        </p:nvSpPr>
        <p:spPr>
          <a:xfrm>
            <a:off x="1389888" y="1828800"/>
            <a:ext cx="2450592" cy="310896"/>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Create a service</a:t>
            </a:r>
            <a:endParaRPr lang="en-US" sz="1800" dirty="0"/>
          </a:p>
        </p:txBody>
      </p:sp>
      <p:sp>
        <p:nvSpPr>
          <p:cNvPr id="8" name="Text 6"/>
          <p:cNvSpPr txBox="1"/>
          <p:nvPr/>
        </p:nvSpPr>
        <p:spPr>
          <a:xfrm>
            <a:off x="3785616" y="1828800"/>
            <a:ext cx="566928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Five complete kind runs; median 8.6 min; zero manual steps.</a:t>
            </a:r>
            <a:endParaRPr lang="en-US" sz="1300" dirty="0"/>
          </a:p>
        </p:txBody>
      </p:sp>
      <p:sp>
        <p:nvSpPr>
          <p:cNvPr id="9" name="Shape 7"/>
          <p:cNvSpPr/>
          <p:nvPr/>
        </p:nvSpPr>
        <p:spPr>
          <a:xfrm>
            <a:off x="9765792" y="1920240"/>
            <a:ext cx="1508760" cy="310896"/>
          </a:xfrm>
          <a:prstGeom prst="roundRect">
            <a:avLst>
              <a:gd name="adj" fmla="val 35294"/>
            </a:avLst>
          </a:prstGeom>
          <a:solidFill>
            <a:srgbClr val="DDF1EB"/>
          </a:solidFill>
          <a:ln w="12700">
            <a:solidFill>
              <a:srgbClr val="DDF1EB">
                <a:alpha val="0"/>
              </a:srgbClr>
            </a:solidFill>
            <a:prstDash val="solid"/>
          </a:ln>
        </p:spPr>
      </p:sp>
      <p:sp>
        <p:nvSpPr>
          <p:cNvPr id="10" name="Text 8"/>
          <p:cNvSpPr txBox="1"/>
          <p:nvPr/>
        </p:nvSpPr>
        <p:spPr>
          <a:xfrm>
            <a:off x="9857232" y="1929384"/>
            <a:ext cx="1325880" cy="274320"/>
          </a:xfrm>
          <a:prstGeom prst="rect">
            <a:avLst/>
          </a:prstGeom>
          <a:noFill/>
          <a:ln/>
        </p:spPr>
        <p:txBody>
          <a:bodyPr wrap="square" lIns="0" tIns="0" rIns="0" bIns="0" rtlCol="0" anchor="ctr">
            <a:normAutofit/>
          </a:bodyPr>
          <a:lstStyle/>
          <a:p>
            <a:pPr algn="ctr" indent="0" marL="0">
              <a:buNone/>
            </a:pPr>
            <a:r>
              <a:rPr lang="en-US" sz="1000" b="1" dirty="0">
                <a:solidFill>
                  <a:srgbClr val="148A83"/>
                </a:solidFill>
                <a:latin typeface="Calibri" pitchFamily="34" charset="0"/>
                <a:ea typeface="Calibri" pitchFamily="34" charset="-122"/>
                <a:cs typeface="Calibri" pitchFamily="34" charset="-120"/>
              </a:rPr>
              <a:t>MEASURED</a:t>
            </a:r>
            <a:endParaRPr lang="en-US" sz="1000" dirty="0"/>
          </a:p>
        </p:txBody>
      </p:sp>
      <p:sp>
        <p:nvSpPr>
          <p:cNvPr id="11" name="Shape 9"/>
          <p:cNvSpPr/>
          <p:nvPr/>
        </p:nvSpPr>
        <p:spPr>
          <a:xfrm>
            <a:off x="749808" y="2871216"/>
            <a:ext cx="438912" cy="438912"/>
          </a:xfrm>
          <a:prstGeom prst="ellipse">
            <a:avLst>
              <a:gd name="adj" fmla="val 25000"/>
            </a:avLst>
          </a:prstGeom>
          <a:solidFill>
            <a:srgbClr val="E7AD4B"/>
          </a:solidFill>
          <a:ln w="12700">
            <a:solidFill>
              <a:srgbClr val="E7AD4B">
                <a:alpha val="0"/>
              </a:srgbClr>
            </a:solidFill>
            <a:prstDash val="solid"/>
          </a:ln>
        </p:spPr>
      </p:sp>
      <p:sp>
        <p:nvSpPr>
          <p:cNvPr id="12" name="Text 10"/>
          <p:cNvSpPr txBox="1"/>
          <p:nvPr/>
        </p:nvSpPr>
        <p:spPr>
          <a:xfrm>
            <a:off x="749808" y="2871216"/>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txBox="1"/>
          <p:nvPr/>
        </p:nvSpPr>
        <p:spPr>
          <a:xfrm>
            <a:off x="1389888" y="2798064"/>
            <a:ext cx="2450592" cy="310896"/>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Reject untrusted images</a:t>
            </a:r>
            <a:endParaRPr lang="en-US" sz="1800" dirty="0"/>
          </a:p>
        </p:txBody>
      </p:sp>
      <p:sp>
        <p:nvSpPr>
          <p:cNvPr id="14" name="Text 12"/>
          <p:cNvSpPr txBox="1"/>
          <p:nvPr/>
        </p:nvSpPr>
        <p:spPr>
          <a:xfrm>
            <a:off x="3785616" y="2798064"/>
            <a:ext cx="566928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15/15 controlled attack cases refused on kind and AKS; live image policy remains Audit.</a:t>
            </a:r>
            <a:endParaRPr lang="en-US" sz="1300" dirty="0"/>
          </a:p>
        </p:txBody>
      </p:sp>
      <p:sp>
        <p:nvSpPr>
          <p:cNvPr id="15" name="Shape 13"/>
          <p:cNvSpPr/>
          <p:nvPr/>
        </p:nvSpPr>
        <p:spPr>
          <a:xfrm>
            <a:off x="9765792" y="2889504"/>
            <a:ext cx="1508760" cy="310896"/>
          </a:xfrm>
          <a:prstGeom prst="roundRect">
            <a:avLst>
              <a:gd name="adj" fmla="val 35294"/>
            </a:avLst>
          </a:prstGeom>
          <a:solidFill>
            <a:srgbClr val="F8EBD1"/>
          </a:solidFill>
          <a:ln w="12700">
            <a:solidFill>
              <a:srgbClr val="F8EBD1">
                <a:alpha val="0"/>
              </a:srgbClr>
            </a:solidFill>
            <a:prstDash val="solid"/>
          </a:ln>
        </p:spPr>
      </p:sp>
      <p:sp>
        <p:nvSpPr>
          <p:cNvPr id="16" name="Text 14"/>
          <p:cNvSpPr txBox="1"/>
          <p:nvPr/>
        </p:nvSpPr>
        <p:spPr>
          <a:xfrm>
            <a:off x="9857232" y="2898648"/>
            <a:ext cx="1325880" cy="274320"/>
          </a:xfrm>
          <a:prstGeom prst="rect">
            <a:avLst/>
          </a:prstGeom>
          <a:noFill/>
          <a:ln/>
        </p:spPr>
        <p:txBody>
          <a:bodyPr wrap="square" lIns="0" tIns="0" rIns="0" bIns="0" rtlCol="0" anchor="ctr">
            <a:normAutofit/>
          </a:bodyPr>
          <a:lstStyle/>
          <a:p>
            <a:pPr algn="ctr" indent="0" marL="0">
              <a:buNone/>
            </a:pPr>
            <a:r>
              <a:rPr lang="en-US" sz="1000" b="1" dirty="0">
                <a:solidFill>
                  <a:srgbClr val="17212B"/>
                </a:solidFill>
                <a:latin typeface="Calibri" pitchFamily="34" charset="0"/>
                <a:ea typeface="Calibri" pitchFamily="34" charset="-122"/>
                <a:cs typeface="Calibri" pitchFamily="34" charset="-120"/>
              </a:rPr>
              <a:t>CONTROLLED TEST</a:t>
            </a:r>
            <a:endParaRPr lang="en-US" sz="1000" dirty="0"/>
          </a:p>
        </p:txBody>
      </p:sp>
      <p:sp>
        <p:nvSpPr>
          <p:cNvPr id="17" name="Shape 15"/>
          <p:cNvSpPr/>
          <p:nvPr/>
        </p:nvSpPr>
        <p:spPr>
          <a:xfrm>
            <a:off x="749808" y="3840480"/>
            <a:ext cx="438912" cy="438912"/>
          </a:xfrm>
          <a:prstGeom prst="ellipse">
            <a:avLst>
              <a:gd name="adj" fmla="val 25000"/>
            </a:avLst>
          </a:prstGeom>
          <a:solidFill>
            <a:srgbClr val="D96960"/>
          </a:solidFill>
          <a:ln w="12700">
            <a:solidFill>
              <a:srgbClr val="D96960">
                <a:alpha val="0"/>
              </a:srgbClr>
            </a:solidFill>
            <a:prstDash val="solid"/>
          </a:ln>
        </p:spPr>
      </p:sp>
      <p:sp>
        <p:nvSpPr>
          <p:cNvPr id="18" name="Text 16"/>
          <p:cNvSpPr txBox="1"/>
          <p:nvPr/>
        </p:nvSpPr>
        <p:spPr>
          <a:xfrm>
            <a:off x="749808" y="3840480"/>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txBox="1"/>
          <p:nvPr/>
        </p:nvSpPr>
        <p:spPr>
          <a:xfrm>
            <a:off x="1389888" y="3767328"/>
            <a:ext cx="2450592" cy="310896"/>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Undo a faulty release</a:t>
            </a:r>
            <a:endParaRPr lang="en-US" sz="1800" dirty="0"/>
          </a:p>
        </p:txBody>
      </p:sp>
      <p:sp>
        <p:nvSpPr>
          <p:cNvPr id="20" name="Text 18"/>
          <p:cNvSpPr txBox="1"/>
          <p:nvPr/>
        </p:nvSpPr>
        <p:spPr>
          <a:xfrm>
            <a:off x="3785616" y="3767328"/>
            <a:ext cx="566928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10/10 historical faults and 4/4 app-only injected faults aborted automatically.</a:t>
            </a:r>
            <a:endParaRPr lang="en-US" sz="1300" dirty="0"/>
          </a:p>
        </p:txBody>
      </p:sp>
      <p:sp>
        <p:nvSpPr>
          <p:cNvPr id="21" name="Shape 19"/>
          <p:cNvSpPr/>
          <p:nvPr/>
        </p:nvSpPr>
        <p:spPr>
          <a:xfrm>
            <a:off x="9765792" y="3858768"/>
            <a:ext cx="1508760" cy="310896"/>
          </a:xfrm>
          <a:prstGeom prst="roundRect">
            <a:avLst>
              <a:gd name="adj" fmla="val 35294"/>
            </a:avLst>
          </a:prstGeom>
          <a:solidFill>
            <a:srgbClr val="DDF1EB"/>
          </a:solidFill>
          <a:ln w="12700">
            <a:solidFill>
              <a:srgbClr val="DDF1EB">
                <a:alpha val="0"/>
              </a:srgbClr>
            </a:solidFill>
            <a:prstDash val="solid"/>
          </a:ln>
        </p:spPr>
      </p:sp>
      <p:sp>
        <p:nvSpPr>
          <p:cNvPr id="22" name="Text 20"/>
          <p:cNvSpPr txBox="1"/>
          <p:nvPr/>
        </p:nvSpPr>
        <p:spPr>
          <a:xfrm>
            <a:off x="9857232" y="3867912"/>
            <a:ext cx="1325880" cy="274320"/>
          </a:xfrm>
          <a:prstGeom prst="rect">
            <a:avLst/>
          </a:prstGeom>
          <a:noFill/>
          <a:ln/>
        </p:spPr>
        <p:txBody>
          <a:bodyPr wrap="square" lIns="0" tIns="0" rIns="0" bIns="0" rtlCol="0" anchor="ctr">
            <a:normAutofit/>
          </a:bodyPr>
          <a:lstStyle/>
          <a:p>
            <a:pPr algn="ctr" indent="0" marL="0">
              <a:buNone/>
            </a:pPr>
            <a:r>
              <a:rPr lang="en-US" sz="1000" b="1" dirty="0">
                <a:solidFill>
                  <a:srgbClr val="148A83"/>
                </a:solidFill>
                <a:latin typeface="Calibri" pitchFamily="34" charset="0"/>
                <a:ea typeface="Calibri" pitchFamily="34" charset="-122"/>
                <a:cs typeface="Calibri" pitchFamily="34" charset="-120"/>
              </a:rPr>
              <a:t>MEASURED</a:t>
            </a:r>
            <a:endParaRPr lang="en-US" sz="1000" dirty="0"/>
          </a:p>
        </p:txBody>
      </p:sp>
      <p:sp>
        <p:nvSpPr>
          <p:cNvPr id="23" name="Shape 21"/>
          <p:cNvSpPr/>
          <p:nvPr/>
        </p:nvSpPr>
        <p:spPr>
          <a:xfrm>
            <a:off x="749808" y="4809744"/>
            <a:ext cx="438912" cy="438912"/>
          </a:xfrm>
          <a:prstGeom prst="ellipse">
            <a:avLst>
              <a:gd name="adj" fmla="val 25000"/>
            </a:avLst>
          </a:prstGeom>
          <a:solidFill>
            <a:srgbClr val="536170"/>
          </a:solidFill>
          <a:ln w="12700">
            <a:solidFill>
              <a:srgbClr val="536170">
                <a:alpha val="0"/>
              </a:srgbClr>
            </a:solidFill>
            <a:prstDash val="solid"/>
          </a:ln>
        </p:spPr>
      </p:sp>
      <p:sp>
        <p:nvSpPr>
          <p:cNvPr id="24" name="Text 22"/>
          <p:cNvSpPr txBox="1"/>
          <p:nvPr/>
        </p:nvSpPr>
        <p:spPr>
          <a:xfrm>
            <a:off x="749808" y="4809744"/>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5" name="Text 23"/>
          <p:cNvSpPr txBox="1"/>
          <p:nvPr/>
        </p:nvSpPr>
        <p:spPr>
          <a:xfrm>
            <a:off x="1389888" y="4736592"/>
            <a:ext cx="2450592" cy="310896"/>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Provision a database</a:t>
            </a:r>
            <a:endParaRPr lang="en-US" sz="1800" dirty="0"/>
          </a:p>
        </p:txBody>
      </p:sp>
      <p:sp>
        <p:nvSpPr>
          <p:cNvPr id="26" name="Text 24"/>
          <p:cNvSpPr txBox="1"/>
          <p:nvPr/>
        </p:nvSpPr>
        <p:spPr>
          <a:xfrm>
            <a:off x="3785616" y="4736592"/>
            <a:ext cx="566928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CloudNativePG measured on kind and AKS; Azure Flexible Server code awaits live verification.</a:t>
            </a:r>
            <a:endParaRPr lang="en-US" sz="1300" dirty="0"/>
          </a:p>
        </p:txBody>
      </p:sp>
      <p:sp>
        <p:nvSpPr>
          <p:cNvPr id="27" name="Shape 25"/>
          <p:cNvSpPr/>
          <p:nvPr/>
        </p:nvSpPr>
        <p:spPr>
          <a:xfrm>
            <a:off x="9765792" y="4828032"/>
            <a:ext cx="1508760" cy="310896"/>
          </a:xfrm>
          <a:prstGeom prst="roundRect">
            <a:avLst>
              <a:gd name="adj" fmla="val 35294"/>
            </a:avLst>
          </a:prstGeom>
          <a:solidFill>
            <a:srgbClr val="E6EDF4"/>
          </a:solidFill>
          <a:ln w="12700">
            <a:solidFill>
              <a:srgbClr val="E6EDF4">
                <a:alpha val="0"/>
              </a:srgbClr>
            </a:solidFill>
            <a:prstDash val="solid"/>
          </a:ln>
        </p:spPr>
      </p:sp>
      <p:sp>
        <p:nvSpPr>
          <p:cNvPr id="28" name="Text 26"/>
          <p:cNvSpPr txBox="1"/>
          <p:nvPr/>
        </p:nvSpPr>
        <p:spPr>
          <a:xfrm>
            <a:off x="9857232" y="4837176"/>
            <a:ext cx="1325880" cy="274320"/>
          </a:xfrm>
          <a:prstGeom prst="rect">
            <a:avLst/>
          </a:prstGeom>
          <a:noFill/>
          <a:ln/>
        </p:spPr>
        <p:txBody>
          <a:bodyPr wrap="square" lIns="0" tIns="0" rIns="0" bIns="0" rtlCol="0" anchor="ctr">
            <a:normAutofit/>
          </a:bodyPr>
          <a:lstStyle/>
          <a:p>
            <a:pPr algn="ctr" indent="0" marL="0">
              <a:buNone/>
            </a:pPr>
            <a:r>
              <a:rPr lang="en-US" sz="1000" b="1" dirty="0">
                <a:solidFill>
                  <a:srgbClr val="17212B"/>
                </a:solidFill>
                <a:latin typeface="Calibri" pitchFamily="34" charset="0"/>
                <a:ea typeface="Calibri" pitchFamily="34" charset="-122"/>
                <a:cs typeface="Calibri" pitchFamily="34" charset="-120"/>
              </a:rPr>
              <a:t>PARTIAL</a:t>
            </a:r>
            <a:endParaRPr lang="en-US" sz="10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PLATFORM ARCHITECTURE</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One path connects source, policy and runtime</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The sample services stay small so the delivery platform and its controls remain visible.</a:t>
            </a:r>
            <a:endParaRPr lang="en-US" sz="1400" dirty="0"/>
          </a:p>
        </p:txBody>
      </p:sp>
      <p:sp>
        <p:nvSpPr>
          <p:cNvPr id="5" name="Shape 3"/>
          <p:cNvSpPr/>
          <p:nvPr/>
        </p:nvSpPr>
        <p:spPr>
          <a:xfrm>
            <a:off x="621792" y="2240280"/>
            <a:ext cx="1993392" cy="1143000"/>
          </a:xfrm>
          <a:prstGeom prst="roundRect">
            <a:avLst>
              <a:gd name="adj" fmla="val 9600"/>
            </a:avLst>
          </a:prstGeom>
          <a:solidFill>
            <a:srgbClr val="FFFFFF"/>
          </a:solidFill>
          <a:ln w="12700">
            <a:solidFill>
              <a:srgbClr val="DCE3E8"/>
            </a:solidFill>
            <a:prstDash val="solid"/>
          </a:ln>
        </p:spPr>
      </p:sp>
      <p:sp>
        <p:nvSpPr>
          <p:cNvPr id="6" name="Shape 4"/>
          <p:cNvSpPr/>
          <p:nvPr/>
        </p:nvSpPr>
        <p:spPr>
          <a:xfrm>
            <a:off x="749808" y="2386584"/>
            <a:ext cx="274320" cy="274320"/>
          </a:xfrm>
          <a:prstGeom prst="ellipse">
            <a:avLst>
              <a:gd name="adj" fmla="val 40000"/>
            </a:avLst>
          </a:prstGeom>
          <a:solidFill>
            <a:srgbClr val="148A83"/>
          </a:solidFill>
          <a:ln w="12700">
            <a:solidFill>
              <a:srgbClr val="148A83">
                <a:alpha val="0"/>
              </a:srgbClr>
            </a:solidFill>
            <a:prstDash val="solid"/>
          </a:ln>
        </p:spPr>
      </p:sp>
      <p:sp>
        <p:nvSpPr>
          <p:cNvPr id="7" name="Text 5"/>
          <p:cNvSpPr txBox="1"/>
          <p:nvPr/>
        </p:nvSpPr>
        <p:spPr>
          <a:xfrm>
            <a:off x="1115568" y="2350008"/>
            <a:ext cx="1371600"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Developer</a:t>
            </a:r>
            <a:endParaRPr lang="en-US" sz="1400" dirty="0"/>
          </a:p>
        </p:txBody>
      </p:sp>
      <p:sp>
        <p:nvSpPr>
          <p:cNvPr id="8" name="Text 6"/>
          <p:cNvSpPr txBox="1"/>
          <p:nvPr/>
        </p:nvSpPr>
        <p:spPr>
          <a:xfrm>
            <a:off x="804672" y="2770632"/>
            <a:ext cx="1627632" cy="52120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warden new</a:t>
            </a:r>
            <a:endParaRPr lang="en-US" sz="1000" dirty="0"/>
          </a:p>
          <a:p>
            <a:pPr algn="l" indent="0" marL="0">
              <a:buNone/>
            </a:pPr>
            <a:r>
              <a:rPr lang="en-US" sz="1000" dirty="0">
                <a:solidFill>
                  <a:srgbClr val="536170"/>
                </a:solidFill>
                <a:latin typeface="Calibri" pitchFamily="34" charset="0"/>
                <a:ea typeface="Calibri" pitchFamily="34" charset="-122"/>
                <a:cs typeface="Calibri" pitchFamily="34" charset="-120"/>
              </a:rPr>
              <a:t>source + tests</a:t>
            </a:r>
            <a:endParaRPr lang="en-US" sz="1000" dirty="0"/>
          </a:p>
        </p:txBody>
      </p:sp>
      <p:sp>
        <p:nvSpPr>
          <p:cNvPr id="9" name="Shape 7"/>
          <p:cNvSpPr/>
          <p:nvPr/>
        </p:nvSpPr>
        <p:spPr>
          <a:xfrm>
            <a:off x="3035808" y="2240280"/>
            <a:ext cx="1993392" cy="1143000"/>
          </a:xfrm>
          <a:prstGeom prst="roundRect">
            <a:avLst>
              <a:gd name="adj" fmla="val 9600"/>
            </a:avLst>
          </a:prstGeom>
          <a:solidFill>
            <a:srgbClr val="FFFFFF"/>
          </a:solidFill>
          <a:ln w="12700">
            <a:solidFill>
              <a:srgbClr val="DCE3E8"/>
            </a:solidFill>
            <a:prstDash val="solid"/>
          </a:ln>
        </p:spPr>
      </p:sp>
      <p:sp>
        <p:nvSpPr>
          <p:cNvPr id="10" name="Shape 8"/>
          <p:cNvSpPr/>
          <p:nvPr/>
        </p:nvSpPr>
        <p:spPr>
          <a:xfrm>
            <a:off x="3163824" y="2386584"/>
            <a:ext cx="274320" cy="274320"/>
          </a:xfrm>
          <a:prstGeom prst="ellipse">
            <a:avLst>
              <a:gd name="adj" fmla="val 40000"/>
            </a:avLst>
          </a:prstGeom>
          <a:solidFill>
            <a:srgbClr val="E7AD4B"/>
          </a:solidFill>
          <a:ln w="12700">
            <a:solidFill>
              <a:srgbClr val="E7AD4B">
                <a:alpha val="0"/>
              </a:srgbClr>
            </a:solidFill>
            <a:prstDash val="solid"/>
          </a:ln>
        </p:spPr>
      </p:sp>
      <p:sp>
        <p:nvSpPr>
          <p:cNvPr id="11" name="Text 9"/>
          <p:cNvSpPr txBox="1"/>
          <p:nvPr/>
        </p:nvSpPr>
        <p:spPr>
          <a:xfrm>
            <a:off x="3529584" y="2350008"/>
            <a:ext cx="1371600"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Build pipeline</a:t>
            </a:r>
            <a:endParaRPr lang="en-US" sz="1400" dirty="0"/>
          </a:p>
        </p:txBody>
      </p:sp>
      <p:sp>
        <p:nvSpPr>
          <p:cNvPr id="12" name="Text 10"/>
          <p:cNvSpPr txBox="1"/>
          <p:nvPr/>
        </p:nvSpPr>
        <p:spPr>
          <a:xfrm>
            <a:off x="3218688" y="2770632"/>
            <a:ext cx="1627632" cy="52120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scan · sign · SBOM</a:t>
            </a:r>
            <a:endParaRPr lang="en-US" sz="1000" dirty="0"/>
          </a:p>
          <a:p>
            <a:pPr algn="l" indent="0" marL="0">
              <a:buNone/>
            </a:pPr>
            <a:r>
              <a:rPr lang="en-US" sz="1000" dirty="0">
                <a:solidFill>
                  <a:srgbClr val="536170"/>
                </a:solidFill>
                <a:latin typeface="Calibri" pitchFamily="34" charset="0"/>
                <a:ea typeface="Calibri" pitchFamily="34" charset="-122"/>
                <a:cs typeface="Calibri" pitchFamily="34" charset="-120"/>
              </a:rPr>
              <a:t>provenance</a:t>
            </a:r>
            <a:endParaRPr lang="en-US" sz="1000" dirty="0"/>
          </a:p>
        </p:txBody>
      </p:sp>
      <p:sp>
        <p:nvSpPr>
          <p:cNvPr id="13" name="Shape 11"/>
          <p:cNvSpPr/>
          <p:nvPr/>
        </p:nvSpPr>
        <p:spPr>
          <a:xfrm>
            <a:off x="5449824" y="2240280"/>
            <a:ext cx="1993392" cy="1143000"/>
          </a:xfrm>
          <a:prstGeom prst="roundRect">
            <a:avLst>
              <a:gd name="adj" fmla="val 9600"/>
            </a:avLst>
          </a:prstGeom>
          <a:solidFill>
            <a:srgbClr val="FFFFFF"/>
          </a:solidFill>
          <a:ln w="12700">
            <a:solidFill>
              <a:srgbClr val="DCE3E8"/>
            </a:solidFill>
            <a:prstDash val="solid"/>
          </a:ln>
        </p:spPr>
      </p:sp>
      <p:sp>
        <p:nvSpPr>
          <p:cNvPr id="14" name="Shape 12"/>
          <p:cNvSpPr/>
          <p:nvPr/>
        </p:nvSpPr>
        <p:spPr>
          <a:xfrm>
            <a:off x="5577840" y="2386584"/>
            <a:ext cx="274320" cy="274320"/>
          </a:xfrm>
          <a:prstGeom prst="ellipse">
            <a:avLst>
              <a:gd name="adj" fmla="val 40000"/>
            </a:avLst>
          </a:prstGeom>
          <a:solidFill>
            <a:srgbClr val="148A83"/>
          </a:solidFill>
          <a:ln w="12700">
            <a:solidFill>
              <a:srgbClr val="148A83">
                <a:alpha val="0"/>
              </a:srgbClr>
            </a:solidFill>
            <a:prstDash val="solid"/>
          </a:ln>
        </p:spPr>
      </p:sp>
      <p:sp>
        <p:nvSpPr>
          <p:cNvPr id="15" name="Text 13"/>
          <p:cNvSpPr txBox="1"/>
          <p:nvPr/>
        </p:nvSpPr>
        <p:spPr>
          <a:xfrm>
            <a:off x="5943600" y="2350008"/>
            <a:ext cx="1371600"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Promotion</a:t>
            </a:r>
            <a:endParaRPr lang="en-US" sz="1400" dirty="0"/>
          </a:p>
        </p:txBody>
      </p:sp>
      <p:sp>
        <p:nvSpPr>
          <p:cNvPr id="16" name="Text 14"/>
          <p:cNvSpPr txBox="1"/>
          <p:nvPr/>
        </p:nvSpPr>
        <p:spPr>
          <a:xfrm>
            <a:off x="5632704" y="2770632"/>
            <a:ext cx="1627632" cy="52120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digest-only PR</a:t>
            </a:r>
            <a:endParaRPr lang="en-US" sz="1000" dirty="0"/>
          </a:p>
          <a:p>
            <a:pPr algn="l" indent="0" marL="0">
              <a:buNone/>
            </a:pPr>
            <a:r>
              <a:rPr lang="en-US" sz="1000" dirty="0">
                <a:solidFill>
                  <a:srgbClr val="536170"/>
                </a:solidFill>
                <a:latin typeface="Calibri" pitchFamily="34" charset="0"/>
                <a:ea typeface="Calibri" pitchFamily="34" charset="-122"/>
                <a:cs typeface="Calibri" pitchFamily="34" charset="-120"/>
              </a:rPr>
              <a:t>GitOps desired state</a:t>
            </a:r>
            <a:endParaRPr lang="en-US" sz="1000" dirty="0"/>
          </a:p>
        </p:txBody>
      </p:sp>
      <p:sp>
        <p:nvSpPr>
          <p:cNvPr id="17" name="Shape 15"/>
          <p:cNvSpPr/>
          <p:nvPr/>
        </p:nvSpPr>
        <p:spPr>
          <a:xfrm>
            <a:off x="7863840" y="2240280"/>
            <a:ext cx="1737360" cy="1143000"/>
          </a:xfrm>
          <a:prstGeom prst="roundRect">
            <a:avLst>
              <a:gd name="adj" fmla="val 9600"/>
            </a:avLst>
          </a:prstGeom>
          <a:solidFill>
            <a:srgbClr val="FFFFFF"/>
          </a:solidFill>
          <a:ln w="12700">
            <a:solidFill>
              <a:srgbClr val="DCE3E8"/>
            </a:solidFill>
            <a:prstDash val="solid"/>
          </a:ln>
        </p:spPr>
      </p:sp>
      <p:sp>
        <p:nvSpPr>
          <p:cNvPr id="18" name="Shape 16"/>
          <p:cNvSpPr/>
          <p:nvPr/>
        </p:nvSpPr>
        <p:spPr>
          <a:xfrm>
            <a:off x="7991856" y="2386584"/>
            <a:ext cx="274320" cy="274320"/>
          </a:xfrm>
          <a:prstGeom prst="ellipse">
            <a:avLst>
              <a:gd name="adj" fmla="val 40000"/>
            </a:avLst>
          </a:prstGeom>
          <a:solidFill>
            <a:srgbClr val="D96960"/>
          </a:solidFill>
          <a:ln w="12700">
            <a:solidFill>
              <a:srgbClr val="D96960">
                <a:alpha val="0"/>
              </a:srgbClr>
            </a:solidFill>
            <a:prstDash val="solid"/>
          </a:ln>
        </p:spPr>
      </p:sp>
      <p:sp>
        <p:nvSpPr>
          <p:cNvPr id="19" name="Text 17"/>
          <p:cNvSpPr txBox="1"/>
          <p:nvPr/>
        </p:nvSpPr>
        <p:spPr>
          <a:xfrm>
            <a:off x="8357616" y="2350008"/>
            <a:ext cx="1115568"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Argo CD</a:t>
            </a:r>
            <a:endParaRPr lang="en-US" sz="1400" dirty="0"/>
          </a:p>
        </p:txBody>
      </p:sp>
      <p:sp>
        <p:nvSpPr>
          <p:cNvPr id="20" name="Text 18"/>
          <p:cNvSpPr txBox="1"/>
          <p:nvPr/>
        </p:nvSpPr>
        <p:spPr>
          <a:xfrm>
            <a:off x="8046720" y="2770632"/>
            <a:ext cx="1371600" cy="52120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pulls from Git</a:t>
            </a:r>
            <a:endParaRPr lang="en-US" sz="1000" dirty="0"/>
          </a:p>
          <a:p>
            <a:pPr algn="l" indent="0" marL="0">
              <a:buNone/>
            </a:pPr>
            <a:r>
              <a:rPr lang="en-US" sz="1000" dirty="0">
                <a:solidFill>
                  <a:srgbClr val="536170"/>
                </a:solidFill>
                <a:latin typeface="Calibri" pitchFamily="34" charset="0"/>
                <a:ea typeface="Calibri" pitchFamily="34" charset="-122"/>
                <a:cs typeface="Calibri" pitchFamily="34" charset="-120"/>
              </a:rPr>
              <a:t>no cluster access in CI</a:t>
            </a:r>
            <a:endParaRPr lang="en-US" sz="1000" dirty="0"/>
          </a:p>
        </p:txBody>
      </p:sp>
      <p:sp>
        <p:nvSpPr>
          <p:cNvPr id="21" name="Shape 19"/>
          <p:cNvSpPr/>
          <p:nvPr/>
        </p:nvSpPr>
        <p:spPr>
          <a:xfrm>
            <a:off x="10021824" y="2240280"/>
            <a:ext cx="1572768" cy="1143000"/>
          </a:xfrm>
          <a:prstGeom prst="roundRect">
            <a:avLst>
              <a:gd name="adj" fmla="val 9600"/>
            </a:avLst>
          </a:prstGeom>
          <a:solidFill>
            <a:srgbClr val="FFFFFF"/>
          </a:solidFill>
          <a:ln w="12700">
            <a:solidFill>
              <a:srgbClr val="DCE3E8"/>
            </a:solidFill>
            <a:prstDash val="solid"/>
          </a:ln>
        </p:spPr>
      </p:sp>
      <p:sp>
        <p:nvSpPr>
          <p:cNvPr id="22" name="Shape 20"/>
          <p:cNvSpPr/>
          <p:nvPr/>
        </p:nvSpPr>
        <p:spPr>
          <a:xfrm>
            <a:off x="10149840" y="2386584"/>
            <a:ext cx="274320" cy="274320"/>
          </a:xfrm>
          <a:prstGeom prst="ellipse">
            <a:avLst>
              <a:gd name="adj" fmla="val 40000"/>
            </a:avLst>
          </a:prstGeom>
          <a:solidFill>
            <a:srgbClr val="148A83"/>
          </a:solidFill>
          <a:ln w="12700">
            <a:solidFill>
              <a:srgbClr val="148A83">
                <a:alpha val="0"/>
              </a:srgbClr>
            </a:solidFill>
            <a:prstDash val="solid"/>
          </a:ln>
        </p:spPr>
      </p:sp>
      <p:sp>
        <p:nvSpPr>
          <p:cNvPr id="23" name="Text 21"/>
          <p:cNvSpPr txBox="1"/>
          <p:nvPr/>
        </p:nvSpPr>
        <p:spPr>
          <a:xfrm>
            <a:off x="10515600" y="2350008"/>
            <a:ext cx="950976"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Cluster</a:t>
            </a:r>
            <a:endParaRPr lang="en-US" sz="1400" dirty="0"/>
          </a:p>
        </p:txBody>
      </p:sp>
      <p:sp>
        <p:nvSpPr>
          <p:cNvPr id="24" name="Text 22"/>
          <p:cNvSpPr txBox="1"/>
          <p:nvPr/>
        </p:nvSpPr>
        <p:spPr>
          <a:xfrm>
            <a:off x="10204704" y="2770632"/>
            <a:ext cx="1207008" cy="52120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kind or AKS</a:t>
            </a:r>
            <a:endParaRPr lang="en-US" sz="1000" dirty="0"/>
          </a:p>
          <a:p>
            <a:pPr algn="l" indent="0" marL="0">
              <a:buNone/>
            </a:pPr>
            <a:r>
              <a:rPr lang="en-US" sz="1000" dirty="0">
                <a:solidFill>
                  <a:srgbClr val="536170"/>
                </a:solidFill>
                <a:latin typeface="Calibri" pitchFamily="34" charset="0"/>
                <a:ea typeface="Calibri" pitchFamily="34" charset="-122"/>
                <a:cs typeface="Calibri" pitchFamily="34" charset="-120"/>
              </a:rPr>
              <a:t>Kubernetes</a:t>
            </a:r>
            <a:endParaRPr lang="en-US" sz="1000" dirty="0"/>
          </a:p>
        </p:txBody>
      </p:sp>
      <p:sp>
        <p:nvSpPr>
          <p:cNvPr id="25" name="Shape 23"/>
          <p:cNvSpPr/>
          <p:nvPr/>
        </p:nvSpPr>
        <p:spPr>
          <a:xfrm>
            <a:off x="2624328" y="2816352"/>
            <a:ext cx="374904" cy="0"/>
          </a:xfrm>
          <a:prstGeom prst="line">
            <a:avLst/>
          </a:prstGeom>
          <a:noFill/>
          <a:ln w="22860">
            <a:solidFill>
              <a:srgbClr val="536170"/>
            </a:solidFill>
            <a:prstDash val="solid"/>
            <a:tailEnd type="triangle"/>
          </a:ln>
        </p:spPr>
      </p:sp>
      <p:sp>
        <p:nvSpPr>
          <p:cNvPr id="26" name="Shape 24"/>
          <p:cNvSpPr/>
          <p:nvPr/>
        </p:nvSpPr>
        <p:spPr>
          <a:xfrm>
            <a:off x="5038344" y="2816352"/>
            <a:ext cx="374904" cy="0"/>
          </a:xfrm>
          <a:prstGeom prst="line">
            <a:avLst/>
          </a:prstGeom>
          <a:noFill/>
          <a:ln w="22860">
            <a:solidFill>
              <a:srgbClr val="536170"/>
            </a:solidFill>
            <a:prstDash val="solid"/>
            <a:tailEnd type="triangle"/>
          </a:ln>
        </p:spPr>
      </p:sp>
      <p:sp>
        <p:nvSpPr>
          <p:cNvPr id="27" name="Shape 25"/>
          <p:cNvSpPr/>
          <p:nvPr/>
        </p:nvSpPr>
        <p:spPr>
          <a:xfrm>
            <a:off x="7452360" y="2816352"/>
            <a:ext cx="374904" cy="0"/>
          </a:xfrm>
          <a:prstGeom prst="line">
            <a:avLst/>
          </a:prstGeom>
          <a:noFill/>
          <a:ln w="22860">
            <a:solidFill>
              <a:srgbClr val="536170"/>
            </a:solidFill>
            <a:prstDash val="solid"/>
            <a:tailEnd type="triangle"/>
          </a:ln>
        </p:spPr>
      </p:sp>
      <p:sp>
        <p:nvSpPr>
          <p:cNvPr id="28" name="Shape 26"/>
          <p:cNvSpPr/>
          <p:nvPr/>
        </p:nvSpPr>
        <p:spPr>
          <a:xfrm>
            <a:off x="9610344" y="2816352"/>
            <a:ext cx="374904" cy="0"/>
          </a:xfrm>
          <a:prstGeom prst="line">
            <a:avLst/>
          </a:prstGeom>
          <a:noFill/>
          <a:ln w="22860">
            <a:solidFill>
              <a:srgbClr val="536170"/>
            </a:solidFill>
            <a:prstDash val="solid"/>
            <a:tailEnd type="triangle"/>
          </a:ln>
        </p:spPr>
      </p:sp>
      <p:sp>
        <p:nvSpPr>
          <p:cNvPr id="29" name="Shape 27"/>
          <p:cNvSpPr/>
          <p:nvPr/>
        </p:nvSpPr>
        <p:spPr>
          <a:xfrm>
            <a:off x="932688" y="4050792"/>
            <a:ext cx="3063240" cy="1417320"/>
          </a:xfrm>
          <a:prstGeom prst="roundRect">
            <a:avLst>
              <a:gd name="adj" fmla="val 7742"/>
            </a:avLst>
          </a:prstGeom>
          <a:solidFill>
            <a:srgbClr val="FFFFFF"/>
          </a:solidFill>
          <a:ln w="12700">
            <a:solidFill>
              <a:srgbClr val="DCE3E8"/>
            </a:solidFill>
            <a:prstDash val="solid"/>
          </a:ln>
        </p:spPr>
      </p:sp>
      <p:sp>
        <p:nvSpPr>
          <p:cNvPr id="30" name="Shape 28"/>
          <p:cNvSpPr/>
          <p:nvPr/>
        </p:nvSpPr>
        <p:spPr>
          <a:xfrm>
            <a:off x="1133856" y="4270248"/>
            <a:ext cx="256032" cy="256032"/>
          </a:xfrm>
          <a:prstGeom prst="ellipse">
            <a:avLst>
              <a:gd name="adj" fmla="val 42857"/>
            </a:avLst>
          </a:prstGeom>
          <a:solidFill>
            <a:srgbClr val="E7AD4B"/>
          </a:solidFill>
          <a:ln w="12700">
            <a:solidFill>
              <a:srgbClr val="E7AD4B">
                <a:alpha val="0"/>
              </a:srgbClr>
            </a:solidFill>
            <a:prstDash val="solid"/>
          </a:ln>
        </p:spPr>
      </p:sp>
      <p:sp>
        <p:nvSpPr>
          <p:cNvPr id="31" name="Text 29"/>
          <p:cNvSpPr txBox="1"/>
          <p:nvPr/>
        </p:nvSpPr>
        <p:spPr>
          <a:xfrm>
            <a:off x="1508760" y="4224528"/>
            <a:ext cx="2276856"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Admission</a:t>
            </a:r>
            <a:endParaRPr lang="en-US" sz="1800" dirty="0"/>
          </a:p>
        </p:txBody>
      </p:sp>
      <p:sp>
        <p:nvSpPr>
          <p:cNvPr id="32" name="Text 30"/>
          <p:cNvSpPr txBox="1"/>
          <p:nvPr/>
        </p:nvSpPr>
        <p:spPr>
          <a:xfrm>
            <a:off x="1161288" y="4754880"/>
            <a:ext cx="2606040" cy="557784"/>
          </a:xfrm>
          <a:prstGeom prst="rect">
            <a:avLst/>
          </a:prstGeom>
          <a:noFill/>
          <a:ln/>
        </p:spPr>
        <p:txBody>
          <a:bodyPr wrap="square" lIns="0" tIns="0" rIns="0" bIns="0" rtlCol="0" anchor="t">
            <a:normAutofit/>
          </a:bodyPr>
          <a:lstStyle/>
          <a:p>
            <a:pPr algn="l" indent="0" marL="0">
              <a:buNone/>
            </a:pPr>
            <a:r>
              <a:rPr lang="en-US" sz="1200" dirty="0">
                <a:solidFill>
                  <a:srgbClr val="536170"/>
                </a:solidFill>
                <a:latin typeface="Calibri" pitchFamily="34" charset="0"/>
                <a:ea typeface="Calibri" pitchFamily="34" charset="-122"/>
                <a:cs typeface="Calibri" pitchFamily="34" charset="-120"/>
              </a:rPr>
              <a:t>VAP checks immutable image references. Kyverno checks supply-chain evidence and pod hygiene.</a:t>
            </a:r>
            <a:endParaRPr lang="en-US" sz="1200" dirty="0"/>
          </a:p>
        </p:txBody>
      </p:sp>
      <p:sp>
        <p:nvSpPr>
          <p:cNvPr id="33" name="Shape 31"/>
          <p:cNvSpPr/>
          <p:nvPr/>
        </p:nvSpPr>
        <p:spPr>
          <a:xfrm>
            <a:off x="4553712" y="4050792"/>
            <a:ext cx="3063240" cy="1417320"/>
          </a:xfrm>
          <a:prstGeom prst="roundRect">
            <a:avLst>
              <a:gd name="adj" fmla="val 7742"/>
            </a:avLst>
          </a:prstGeom>
          <a:solidFill>
            <a:srgbClr val="FFFFFF"/>
          </a:solidFill>
          <a:ln w="12700">
            <a:solidFill>
              <a:srgbClr val="DCE3E8"/>
            </a:solidFill>
            <a:prstDash val="solid"/>
          </a:ln>
        </p:spPr>
      </p:sp>
      <p:sp>
        <p:nvSpPr>
          <p:cNvPr id="34" name="Shape 32"/>
          <p:cNvSpPr/>
          <p:nvPr/>
        </p:nvSpPr>
        <p:spPr>
          <a:xfrm>
            <a:off x="4754880" y="4270248"/>
            <a:ext cx="256032" cy="256032"/>
          </a:xfrm>
          <a:prstGeom prst="ellipse">
            <a:avLst>
              <a:gd name="adj" fmla="val 42857"/>
            </a:avLst>
          </a:prstGeom>
          <a:solidFill>
            <a:srgbClr val="D96960"/>
          </a:solidFill>
          <a:ln w="12700">
            <a:solidFill>
              <a:srgbClr val="D96960">
                <a:alpha val="0"/>
              </a:srgbClr>
            </a:solidFill>
            <a:prstDash val="solid"/>
          </a:ln>
        </p:spPr>
      </p:sp>
      <p:sp>
        <p:nvSpPr>
          <p:cNvPr id="35" name="Text 33"/>
          <p:cNvSpPr txBox="1"/>
          <p:nvPr/>
        </p:nvSpPr>
        <p:spPr>
          <a:xfrm>
            <a:off x="5129784" y="4224528"/>
            <a:ext cx="2276856"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Progressive delivery</a:t>
            </a:r>
            <a:endParaRPr lang="en-US" sz="1800" dirty="0"/>
          </a:p>
        </p:txBody>
      </p:sp>
      <p:sp>
        <p:nvSpPr>
          <p:cNvPr id="36" name="Text 34"/>
          <p:cNvSpPr txBox="1"/>
          <p:nvPr/>
        </p:nvSpPr>
        <p:spPr>
          <a:xfrm>
            <a:off x="4782312" y="4754880"/>
            <a:ext cx="2606040" cy="557784"/>
          </a:xfrm>
          <a:prstGeom prst="rect">
            <a:avLst/>
          </a:prstGeom>
          <a:noFill/>
          <a:ln/>
        </p:spPr>
        <p:txBody>
          <a:bodyPr wrap="square" lIns="0" tIns="0" rIns="0" bIns="0" rtlCol="0" anchor="t">
            <a:normAutofit/>
          </a:bodyPr>
          <a:lstStyle/>
          <a:p>
            <a:pPr algn="l" indent="0" marL="0">
              <a:buNone/>
            </a:pPr>
            <a:r>
              <a:rPr lang="en-US" sz="1200" dirty="0">
                <a:solidFill>
                  <a:srgbClr val="536170"/>
                </a:solidFill>
                <a:latin typeface="Calibri" pitchFamily="34" charset="0"/>
                <a:ea typeface="Calibri" pitchFamily="34" charset="-122"/>
                <a:cs typeface="Calibri" pitchFamily="34" charset="-120"/>
              </a:rPr>
              <a:t>Argo Rollouts shifts traffic and evaluates service metrics before promotion.</a:t>
            </a:r>
            <a:endParaRPr lang="en-US" sz="1200" dirty="0"/>
          </a:p>
        </p:txBody>
      </p:sp>
      <p:sp>
        <p:nvSpPr>
          <p:cNvPr id="37" name="Shape 35"/>
          <p:cNvSpPr/>
          <p:nvPr/>
        </p:nvSpPr>
        <p:spPr>
          <a:xfrm>
            <a:off x="8174736" y="4050792"/>
            <a:ext cx="3063240" cy="1417320"/>
          </a:xfrm>
          <a:prstGeom prst="roundRect">
            <a:avLst>
              <a:gd name="adj" fmla="val 7742"/>
            </a:avLst>
          </a:prstGeom>
          <a:solidFill>
            <a:srgbClr val="FFFFFF"/>
          </a:solidFill>
          <a:ln w="12700">
            <a:solidFill>
              <a:srgbClr val="DCE3E8"/>
            </a:solidFill>
            <a:prstDash val="solid"/>
          </a:ln>
        </p:spPr>
      </p:sp>
      <p:sp>
        <p:nvSpPr>
          <p:cNvPr id="38" name="Shape 36"/>
          <p:cNvSpPr/>
          <p:nvPr/>
        </p:nvSpPr>
        <p:spPr>
          <a:xfrm>
            <a:off x="8375904" y="4270248"/>
            <a:ext cx="256032" cy="256032"/>
          </a:xfrm>
          <a:prstGeom prst="ellipse">
            <a:avLst>
              <a:gd name="adj" fmla="val 42857"/>
            </a:avLst>
          </a:prstGeom>
          <a:solidFill>
            <a:srgbClr val="148A83"/>
          </a:solidFill>
          <a:ln w="12700">
            <a:solidFill>
              <a:srgbClr val="148A83">
                <a:alpha val="0"/>
              </a:srgbClr>
            </a:solidFill>
            <a:prstDash val="solid"/>
          </a:ln>
        </p:spPr>
      </p:sp>
      <p:sp>
        <p:nvSpPr>
          <p:cNvPr id="39" name="Text 37"/>
          <p:cNvSpPr txBox="1"/>
          <p:nvPr/>
        </p:nvSpPr>
        <p:spPr>
          <a:xfrm>
            <a:off x="8750808" y="4224528"/>
            <a:ext cx="2276856"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Operations</a:t>
            </a:r>
            <a:endParaRPr lang="en-US" sz="1800" dirty="0"/>
          </a:p>
        </p:txBody>
      </p:sp>
      <p:sp>
        <p:nvSpPr>
          <p:cNvPr id="40" name="Text 38"/>
          <p:cNvSpPr txBox="1"/>
          <p:nvPr/>
        </p:nvSpPr>
        <p:spPr>
          <a:xfrm>
            <a:off x="8403336" y="4754880"/>
            <a:ext cx="2606040" cy="557784"/>
          </a:xfrm>
          <a:prstGeom prst="rect">
            <a:avLst/>
          </a:prstGeom>
          <a:noFill/>
          <a:ln/>
        </p:spPr>
        <p:txBody>
          <a:bodyPr wrap="square" lIns="0" tIns="0" rIns="0" bIns="0" rtlCol="0" anchor="t">
            <a:normAutofit/>
          </a:bodyPr>
          <a:lstStyle/>
          <a:p>
            <a:pPr algn="l" indent="0" marL="0">
              <a:buNone/>
            </a:pPr>
            <a:r>
              <a:rPr lang="en-US" sz="1200" dirty="0">
                <a:solidFill>
                  <a:srgbClr val="536170"/>
                </a:solidFill>
                <a:latin typeface="Calibri" pitchFamily="34" charset="0"/>
                <a:ea typeface="Calibri" pitchFamily="34" charset="-122"/>
                <a:cs typeface="Calibri" pitchFamily="34" charset="-120"/>
              </a:rPr>
              <a:t>Crossplane provides a shared Database API; Prometheus and GitHub Deployments provide evidence.</a:t>
            </a:r>
            <a:endParaRPr lang="en-US" sz="12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TRUST BOUNDARY</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CI can propose state; it cannot reach the cluster</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Every image is promoted by digest through Git, then pulled by Argo CD.</a:t>
            </a:r>
            <a:endParaRPr lang="en-US" sz="1400" dirty="0"/>
          </a:p>
        </p:txBody>
      </p:sp>
      <p:sp>
        <p:nvSpPr>
          <p:cNvPr id="5" name="Shape 3"/>
          <p:cNvSpPr/>
          <p:nvPr/>
        </p:nvSpPr>
        <p:spPr>
          <a:xfrm>
            <a:off x="731520" y="1956816"/>
            <a:ext cx="6711696" cy="3328416"/>
          </a:xfrm>
          <a:prstGeom prst="roundRect">
            <a:avLst>
              <a:gd name="adj" fmla="val 3297"/>
            </a:avLst>
          </a:prstGeom>
          <a:solidFill>
            <a:srgbClr val="FFFFFF"/>
          </a:solidFill>
          <a:ln w="12700">
            <a:solidFill>
              <a:srgbClr val="DCE3E8"/>
            </a:solidFill>
            <a:prstDash val="solid"/>
          </a:ln>
        </p:spPr>
      </p:sp>
      <p:sp>
        <p:nvSpPr>
          <p:cNvPr id="6" name="Text 4"/>
          <p:cNvSpPr txBox="1"/>
          <p:nvPr/>
        </p:nvSpPr>
        <p:spPr>
          <a:xfrm>
            <a:off x="987552" y="2212848"/>
            <a:ext cx="1920240" cy="310896"/>
          </a:xfrm>
          <a:prstGeom prst="rect">
            <a:avLst/>
          </a:prstGeom>
          <a:noFill/>
          <a:ln/>
        </p:spPr>
        <p:txBody>
          <a:bodyPr wrap="square" lIns="0" tIns="0" rIns="0" bIns="0" rtlCol="0" anchor="ctr">
            <a:normAutofit/>
          </a:bodyPr>
          <a:lstStyle/>
          <a:p>
            <a:pPr algn="l" indent="0" marL="0">
              <a:buNone/>
            </a:pPr>
            <a:r>
              <a:rPr lang="en-US" sz="2000" b="1" dirty="0">
                <a:solidFill>
                  <a:srgbClr val="17212B"/>
                </a:solidFill>
                <a:latin typeface="Calibri" pitchFamily="34" charset="0"/>
                <a:ea typeface="Calibri" pitchFamily="34" charset="-122"/>
                <a:cs typeface="Calibri" pitchFamily="34" charset="-120"/>
              </a:rPr>
              <a:t>GitHub Actions</a:t>
            </a:r>
            <a:endParaRPr lang="en-US" sz="2000" dirty="0"/>
          </a:p>
        </p:txBody>
      </p:sp>
      <p:sp>
        <p:nvSpPr>
          <p:cNvPr id="7" name="Shape 5"/>
          <p:cNvSpPr/>
          <p:nvPr/>
        </p:nvSpPr>
        <p:spPr>
          <a:xfrm>
            <a:off x="987552" y="2743200"/>
            <a:ext cx="1664208" cy="1051560"/>
          </a:xfrm>
          <a:prstGeom prst="roundRect">
            <a:avLst>
              <a:gd name="adj" fmla="val 10435"/>
            </a:avLst>
          </a:prstGeom>
          <a:solidFill>
            <a:srgbClr val="E6EDF4"/>
          </a:solidFill>
          <a:ln w="12700">
            <a:solidFill>
              <a:srgbClr val="DCE3E8"/>
            </a:solidFill>
            <a:prstDash val="solid"/>
          </a:ln>
        </p:spPr>
      </p:sp>
      <p:sp>
        <p:nvSpPr>
          <p:cNvPr id="8" name="Shape 6"/>
          <p:cNvSpPr/>
          <p:nvPr/>
        </p:nvSpPr>
        <p:spPr>
          <a:xfrm>
            <a:off x="1115568" y="2889504"/>
            <a:ext cx="274320" cy="274320"/>
          </a:xfrm>
          <a:prstGeom prst="ellipse">
            <a:avLst>
              <a:gd name="adj" fmla="val 40000"/>
            </a:avLst>
          </a:prstGeom>
          <a:solidFill>
            <a:srgbClr val="148A83"/>
          </a:solidFill>
          <a:ln w="12700">
            <a:solidFill>
              <a:srgbClr val="148A83">
                <a:alpha val="0"/>
              </a:srgbClr>
            </a:solidFill>
            <a:prstDash val="solid"/>
          </a:ln>
        </p:spPr>
      </p:sp>
      <p:sp>
        <p:nvSpPr>
          <p:cNvPr id="9" name="Text 7"/>
          <p:cNvSpPr txBox="1"/>
          <p:nvPr/>
        </p:nvSpPr>
        <p:spPr>
          <a:xfrm>
            <a:off x="1481328" y="2852928"/>
            <a:ext cx="1042416"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Build + scan</a:t>
            </a:r>
            <a:endParaRPr lang="en-US" sz="1400" dirty="0"/>
          </a:p>
        </p:txBody>
      </p:sp>
      <p:sp>
        <p:nvSpPr>
          <p:cNvPr id="10" name="Text 8"/>
          <p:cNvSpPr txBox="1"/>
          <p:nvPr/>
        </p:nvSpPr>
        <p:spPr>
          <a:xfrm>
            <a:off x="1170432" y="3273552"/>
            <a:ext cx="1298448" cy="42976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no cluster creds</a:t>
            </a:r>
            <a:endParaRPr lang="en-US" sz="1000" dirty="0"/>
          </a:p>
        </p:txBody>
      </p:sp>
      <p:sp>
        <p:nvSpPr>
          <p:cNvPr id="11" name="Shape 9"/>
          <p:cNvSpPr/>
          <p:nvPr/>
        </p:nvSpPr>
        <p:spPr>
          <a:xfrm>
            <a:off x="3072384" y="2743200"/>
            <a:ext cx="1664208" cy="1051560"/>
          </a:xfrm>
          <a:prstGeom prst="roundRect">
            <a:avLst>
              <a:gd name="adj" fmla="val 10435"/>
            </a:avLst>
          </a:prstGeom>
          <a:solidFill>
            <a:srgbClr val="DDF1EB"/>
          </a:solidFill>
          <a:ln w="12700">
            <a:solidFill>
              <a:srgbClr val="DCE3E8"/>
            </a:solidFill>
            <a:prstDash val="solid"/>
          </a:ln>
        </p:spPr>
      </p:sp>
      <p:sp>
        <p:nvSpPr>
          <p:cNvPr id="12" name="Shape 10"/>
          <p:cNvSpPr/>
          <p:nvPr/>
        </p:nvSpPr>
        <p:spPr>
          <a:xfrm>
            <a:off x="3200400" y="2889504"/>
            <a:ext cx="274320" cy="274320"/>
          </a:xfrm>
          <a:prstGeom prst="ellipse">
            <a:avLst>
              <a:gd name="adj" fmla="val 40000"/>
            </a:avLst>
          </a:prstGeom>
          <a:solidFill>
            <a:srgbClr val="E7AD4B"/>
          </a:solidFill>
          <a:ln w="12700">
            <a:solidFill>
              <a:srgbClr val="E7AD4B">
                <a:alpha val="0"/>
              </a:srgbClr>
            </a:solidFill>
            <a:prstDash val="solid"/>
          </a:ln>
        </p:spPr>
      </p:sp>
      <p:sp>
        <p:nvSpPr>
          <p:cNvPr id="13" name="Text 11"/>
          <p:cNvSpPr txBox="1"/>
          <p:nvPr/>
        </p:nvSpPr>
        <p:spPr>
          <a:xfrm>
            <a:off x="3566160" y="2852928"/>
            <a:ext cx="1042416"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Sign + attest</a:t>
            </a:r>
            <a:endParaRPr lang="en-US" sz="1400" dirty="0"/>
          </a:p>
        </p:txBody>
      </p:sp>
      <p:sp>
        <p:nvSpPr>
          <p:cNvPr id="14" name="Text 12"/>
          <p:cNvSpPr txBox="1"/>
          <p:nvPr/>
        </p:nvSpPr>
        <p:spPr>
          <a:xfrm>
            <a:off x="3255264" y="3273552"/>
            <a:ext cx="1298448" cy="42976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OIDC only here</a:t>
            </a:r>
            <a:endParaRPr lang="en-US" sz="1000" dirty="0"/>
          </a:p>
        </p:txBody>
      </p:sp>
      <p:sp>
        <p:nvSpPr>
          <p:cNvPr id="15" name="Shape 13"/>
          <p:cNvSpPr/>
          <p:nvPr/>
        </p:nvSpPr>
        <p:spPr>
          <a:xfrm>
            <a:off x="5157216" y="2743200"/>
            <a:ext cx="1901952" cy="1051560"/>
          </a:xfrm>
          <a:prstGeom prst="roundRect">
            <a:avLst>
              <a:gd name="adj" fmla="val 10435"/>
            </a:avLst>
          </a:prstGeom>
          <a:solidFill>
            <a:srgbClr val="F8EBD1"/>
          </a:solidFill>
          <a:ln w="12700">
            <a:solidFill>
              <a:srgbClr val="DCE3E8"/>
            </a:solidFill>
            <a:prstDash val="solid"/>
          </a:ln>
        </p:spPr>
      </p:sp>
      <p:sp>
        <p:nvSpPr>
          <p:cNvPr id="16" name="Shape 14"/>
          <p:cNvSpPr/>
          <p:nvPr/>
        </p:nvSpPr>
        <p:spPr>
          <a:xfrm>
            <a:off x="5285232" y="2889504"/>
            <a:ext cx="274320" cy="274320"/>
          </a:xfrm>
          <a:prstGeom prst="ellipse">
            <a:avLst>
              <a:gd name="adj" fmla="val 40000"/>
            </a:avLst>
          </a:prstGeom>
          <a:solidFill>
            <a:srgbClr val="D96960"/>
          </a:solidFill>
          <a:ln w="12700">
            <a:solidFill>
              <a:srgbClr val="D96960">
                <a:alpha val="0"/>
              </a:srgbClr>
            </a:solidFill>
            <a:prstDash val="solid"/>
          </a:ln>
        </p:spPr>
      </p:sp>
      <p:sp>
        <p:nvSpPr>
          <p:cNvPr id="17" name="Text 15"/>
          <p:cNvSpPr txBox="1"/>
          <p:nvPr/>
        </p:nvSpPr>
        <p:spPr>
          <a:xfrm>
            <a:off x="5650992" y="2852928"/>
            <a:ext cx="1280160"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Promote</a:t>
            </a:r>
            <a:endParaRPr lang="en-US" sz="1400" dirty="0"/>
          </a:p>
        </p:txBody>
      </p:sp>
      <p:sp>
        <p:nvSpPr>
          <p:cNvPr id="18" name="Text 16"/>
          <p:cNvSpPr txBox="1"/>
          <p:nvPr/>
        </p:nvSpPr>
        <p:spPr>
          <a:xfrm>
            <a:off x="5340096" y="3273552"/>
            <a:ext cx="1536192" cy="42976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digest-only change</a:t>
            </a:r>
            <a:endParaRPr lang="en-US" sz="1000" dirty="0"/>
          </a:p>
        </p:txBody>
      </p:sp>
      <p:sp>
        <p:nvSpPr>
          <p:cNvPr id="19" name="Shape 17"/>
          <p:cNvSpPr/>
          <p:nvPr/>
        </p:nvSpPr>
        <p:spPr>
          <a:xfrm>
            <a:off x="2688336" y="3246120"/>
            <a:ext cx="347472" cy="0"/>
          </a:xfrm>
          <a:prstGeom prst="line">
            <a:avLst/>
          </a:prstGeom>
          <a:noFill/>
          <a:ln w="20320">
            <a:solidFill>
              <a:srgbClr val="536170"/>
            </a:solidFill>
            <a:prstDash val="solid"/>
            <a:tailEnd type="triangle"/>
          </a:ln>
        </p:spPr>
      </p:sp>
      <p:sp>
        <p:nvSpPr>
          <p:cNvPr id="20" name="Shape 18"/>
          <p:cNvSpPr/>
          <p:nvPr/>
        </p:nvSpPr>
        <p:spPr>
          <a:xfrm>
            <a:off x="4773168" y="3246120"/>
            <a:ext cx="347472" cy="0"/>
          </a:xfrm>
          <a:prstGeom prst="line">
            <a:avLst/>
          </a:prstGeom>
          <a:noFill/>
          <a:ln w="20320">
            <a:solidFill>
              <a:srgbClr val="536170"/>
            </a:solidFill>
            <a:prstDash val="solid"/>
            <a:tailEnd type="triangle"/>
          </a:ln>
        </p:spPr>
      </p:sp>
      <p:sp>
        <p:nvSpPr>
          <p:cNvPr id="21" name="Text 19"/>
          <p:cNvSpPr txBox="1"/>
          <p:nvPr/>
        </p:nvSpPr>
        <p:spPr>
          <a:xfrm>
            <a:off x="1005840" y="4370832"/>
            <a:ext cx="6309360" cy="329184"/>
          </a:xfrm>
          <a:prstGeom prst="rect">
            <a:avLst/>
          </a:prstGeom>
          <a:noFill/>
          <a:ln/>
        </p:spPr>
        <p:txBody>
          <a:bodyPr wrap="square" lIns="0" tIns="0" rIns="0" bIns="0" rtlCol="0" anchor="ctr">
            <a:normAutofit/>
          </a:bodyPr>
          <a:lstStyle/>
          <a:p>
            <a:pPr algn="ctr" indent="0" marL="0">
              <a:buNone/>
            </a:pPr>
            <a:r>
              <a:rPr lang="en-US" sz="1500" b="1" dirty="0">
                <a:solidFill>
                  <a:srgbClr val="148A83"/>
                </a:solidFill>
                <a:latin typeface="Calibri" pitchFamily="34" charset="0"/>
                <a:ea typeface="Calibri" pitchFamily="34" charset="-122"/>
                <a:cs typeface="Calibri" pitchFamily="34" charset="-120"/>
              </a:rPr>
              <a:t>No kubeconfig  ·  no kubectl  ·  no cluster token</a:t>
            </a:r>
            <a:endParaRPr lang="en-US" sz="1500" dirty="0"/>
          </a:p>
        </p:txBody>
      </p:sp>
      <p:sp>
        <p:nvSpPr>
          <p:cNvPr id="22" name="Shape 20"/>
          <p:cNvSpPr/>
          <p:nvPr/>
        </p:nvSpPr>
        <p:spPr>
          <a:xfrm>
            <a:off x="8010144" y="1956816"/>
            <a:ext cx="3429000" cy="3328416"/>
          </a:xfrm>
          <a:prstGeom prst="roundRect">
            <a:avLst>
              <a:gd name="adj" fmla="val 3297"/>
            </a:avLst>
          </a:prstGeom>
          <a:solidFill>
            <a:srgbClr val="18212B"/>
          </a:solidFill>
          <a:ln w="12700">
            <a:solidFill>
              <a:srgbClr val="18212B">
                <a:alpha val="0"/>
              </a:srgbClr>
            </a:solidFill>
            <a:prstDash val="solid"/>
          </a:ln>
        </p:spPr>
      </p:sp>
      <p:sp>
        <p:nvSpPr>
          <p:cNvPr id="23" name="Text 21"/>
          <p:cNvSpPr txBox="1"/>
          <p:nvPr/>
        </p:nvSpPr>
        <p:spPr>
          <a:xfrm>
            <a:off x="8321040" y="2267712"/>
            <a:ext cx="2651760" cy="384048"/>
          </a:xfrm>
          <a:prstGeom prst="rect">
            <a:avLst/>
          </a:prstGeom>
          <a:noFill/>
          <a:ln/>
        </p:spPr>
        <p:txBody>
          <a:bodyPr wrap="square" lIns="0" tIns="0" rIns="0" bIns="0" rtlCol="0" anchor="ctr">
            <a:normAutofit/>
          </a:bodyPr>
          <a:lstStyle/>
          <a:p>
            <a:pPr algn="l" indent="0" marL="0">
              <a:buNone/>
            </a:pPr>
            <a:r>
              <a:rPr lang="en-US" sz="2200" b="1" dirty="0">
                <a:solidFill>
                  <a:srgbClr val="FFFFFF"/>
                </a:solidFill>
                <a:latin typeface="Calibri" pitchFamily="34" charset="0"/>
                <a:ea typeface="Calibri" pitchFamily="34" charset="-122"/>
                <a:cs typeface="Calibri" pitchFamily="34" charset="-120"/>
              </a:rPr>
              <a:t>GitOps cluster</a:t>
            </a:r>
            <a:endParaRPr lang="en-US" sz="2200" dirty="0"/>
          </a:p>
        </p:txBody>
      </p:sp>
      <p:sp>
        <p:nvSpPr>
          <p:cNvPr id="24" name="Shape 22"/>
          <p:cNvSpPr/>
          <p:nvPr/>
        </p:nvSpPr>
        <p:spPr>
          <a:xfrm>
            <a:off x="8375904" y="2962656"/>
            <a:ext cx="548640" cy="548640"/>
          </a:xfrm>
          <a:prstGeom prst="ellipse">
            <a:avLst>
              <a:gd name="adj" fmla="val 20000"/>
            </a:avLst>
          </a:prstGeom>
          <a:solidFill>
            <a:srgbClr val="B9E769"/>
          </a:solidFill>
          <a:ln w="12700">
            <a:solidFill>
              <a:srgbClr val="B9E769">
                <a:alpha val="0"/>
              </a:srgbClr>
            </a:solidFill>
            <a:prstDash val="solid"/>
          </a:ln>
        </p:spPr>
      </p:sp>
      <p:sp>
        <p:nvSpPr>
          <p:cNvPr id="25" name="Text 23"/>
          <p:cNvSpPr txBox="1"/>
          <p:nvPr/>
        </p:nvSpPr>
        <p:spPr>
          <a:xfrm>
            <a:off x="9107424" y="2935224"/>
            <a:ext cx="1691640" cy="320040"/>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Calibri" pitchFamily="34" charset="0"/>
                <a:ea typeface="Calibri" pitchFamily="34" charset="-122"/>
                <a:cs typeface="Calibri" pitchFamily="34" charset="-120"/>
              </a:rPr>
              <a:t>Argo CD</a:t>
            </a:r>
            <a:endParaRPr lang="en-US" sz="1900" dirty="0"/>
          </a:p>
        </p:txBody>
      </p:sp>
      <p:sp>
        <p:nvSpPr>
          <p:cNvPr id="26" name="Text 24"/>
          <p:cNvSpPr txBox="1"/>
          <p:nvPr/>
        </p:nvSpPr>
        <p:spPr>
          <a:xfrm>
            <a:off x="9107424" y="3319272"/>
            <a:ext cx="1737360" cy="237744"/>
          </a:xfrm>
          <a:prstGeom prst="rect">
            <a:avLst/>
          </a:prstGeom>
          <a:noFill/>
          <a:ln/>
        </p:spPr>
        <p:txBody>
          <a:bodyPr wrap="square" lIns="0" tIns="0" rIns="0" bIns="0" rtlCol="0" anchor="ctr">
            <a:normAutofit/>
          </a:bodyPr>
          <a:lstStyle/>
          <a:p>
            <a:pPr algn="l" indent="0" marL="0">
              <a:buNone/>
            </a:pPr>
            <a:r>
              <a:rPr lang="en-US" sz="1200" dirty="0">
                <a:solidFill>
                  <a:srgbClr val="C3D0D9"/>
                </a:solidFill>
                <a:latin typeface="Calibri" pitchFamily="34" charset="0"/>
                <a:ea typeface="Calibri" pitchFamily="34" charset="-122"/>
                <a:cs typeface="Calibri" pitchFamily="34" charset="-120"/>
              </a:rPr>
              <a:t>pulls desired state</a:t>
            </a:r>
            <a:endParaRPr lang="en-US" sz="1200" dirty="0"/>
          </a:p>
        </p:txBody>
      </p:sp>
      <p:sp>
        <p:nvSpPr>
          <p:cNvPr id="27" name="Shape 25"/>
          <p:cNvSpPr/>
          <p:nvPr/>
        </p:nvSpPr>
        <p:spPr>
          <a:xfrm>
            <a:off x="8375904" y="4096512"/>
            <a:ext cx="548640" cy="548640"/>
          </a:xfrm>
          <a:prstGeom prst="ellipse">
            <a:avLst>
              <a:gd name="adj" fmla="val 20000"/>
            </a:avLst>
          </a:prstGeom>
          <a:solidFill>
            <a:srgbClr val="56B8AA"/>
          </a:solidFill>
          <a:ln w="12700">
            <a:solidFill>
              <a:srgbClr val="56B8AA">
                <a:alpha val="0"/>
              </a:srgbClr>
            </a:solidFill>
            <a:prstDash val="solid"/>
          </a:ln>
        </p:spPr>
      </p:sp>
      <p:sp>
        <p:nvSpPr>
          <p:cNvPr id="28" name="Text 26"/>
          <p:cNvSpPr txBox="1"/>
          <p:nvPr/>
        </p:nvSpPr>
        <p:spPr>
          <a:xfrm>
            <a:off x="9107424" y="4069080"/>
            <a:ext cx="1783080" cy="320040"/>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Calibri" pitchFamily="34" charset="0"/>
                <a:ea typeface="Calibri" pitchFamily="34" charset="-122"/>
                <a:cs typeface="Calibri" pitchFamily="34" charset="-120"/>
              </a:rPr>
              <a:t>Kubernetes</a:t>
            </a:r>
            <a:endParaRPr lang="en-US" sz="1900" dirty="0"/>
          </a:p>
        </p:txBody>
      </p:sp>
      <p:sp>
        <p:nvSpPr>
          <p:cNvPr id="29" name="Text 27"/>
          <p:cNvSpPr txBox="1"/>
          <p:nvPr/>
        </p:nvSpPr>
        <p:spPr>
          <a:xfrm>
            <a:off x="9107424" y="4453128"/>
            <a:ext cx="1920240" cy="237744"/>
          </a:xfrm>
          <a:prstGeom prst="rect">
            <a:avLst/>
          </a:prstGeom>
          <a:noFill/>
          <a:ln/>
        </p:spPr>
        <p:txBody>
          <a:bodyPr wrap="square" lIns="0" tIns="0" rIns="0" bIns="0" rtlCol="0" anchor="ctr">
            <a:normAutofit/>
          </a:bodyPr>
          <a:lstStyle/>
          <a:p>
            <a:pPr algn="l" indent="0" marL="0">
              <a:buNone/>
            </a:pPr>
            <a:r>
              <a:rPr lang="en-US" sz="1200" dirty="0">
                <a:solidFill>
                  <a:srgbClr val="C3D0D9"/>
                </a:solidFill>
                <a:latin typeface="Calibri" pitchFamily="34" charset="0"/>
                <a:ea typeface="Calibri" pitchFamily="34" charset="-122"/>
                <a:cs typeface="Calibri" pitchFamily="34" charset="-120"/>
              </a:rPr>
              <a:t>applies reviewed Git state</a:t>
            </a:r>
            <a:endParaRPr lang="en-US" sz="1200" dirty="0"/>
          </a:p>
        </p:txBody>
      </p:sp>
      <p:sp>
        <p:nvSpPr>
          <p:cNvPr id="30" name="Shape 28"/>
          <p:cNvSpPr/>
          <p:nvPr/>
        </p:nvSpPr>
        <p:spPr>
          <a:xfrm>
            <a:off x="7104888" y="3291840"/>
            <a:ext cx="713232" cy="0"/>
          </a:xfrm>
          <a:prstGeom prst="line">
            <a:avLst/>
          </a:prstGeom>
          <a:noFill/>
          <a:ln w="31750">
            <a:solidFill>
              <a:srgbClr val="148A83"/>
            </a:solidFill>
            <a:prstDash val="solid"/>
            <a:tailEnd type="triangle"/>
          </a:ln>
        </p:spPr>
      </p:sp>
      <p:sp>
        <p:nvSpPr>
          <p:cNvPr id="31" name="Text 29"/>
          <p:cNvSpPr txBox="1"/>
          <p:nvPr/>
        </p:nvSpPr>
        <p:spPr>
          <a:xfrm>
            <a:off x="3749040" y="5724144"/>
            <a:ext cx="4754880" cy="347472"/>
          </a:xfrm>
          <a:prstGeom prst="rect">
            <a:avLst/>
          </a:prstGeom>
          <a:noFill/>
          <a:ln/>
        </p:spPr>
        <p:txBody>
          <a:bodyPr wrap="square" lIns="0" tIns="0" rIns="0" bIns="0" rtlCol="0" anchor="ctr">
            <a:normAutofit/>
          </a:bodyPr>
          <a:lstStyle/>
          <a:p>
            <a:pPr algn="ctr" indent="0" marL="0">
              <a:buNone/>
            </a:pPr>
            <a:r>
              <a:rPr lang="en-US" sz="1900" b="1" dirty="0">
                <a:solidFill>
                  <a:srgbClr val="17212B"/>
                </a:solidFill>
                <a:latin typeface="Cambria" pitchFamily="34" charset="0"/>
                <a:ea typeface="Cambria" pitchFamily="34" charset="-122"/>
                <a:cs typeface="Cambria" pitchFamily="34" charset="-120"/>
              </a:rPr>
              <a:t>Only a Git change crosses the boundary</a:t>
            </a:r>
            <a:endParaRPr lang="en-US" sz="19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POLICY CONTROLS</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Admission is layered; cryptographic checks remain observable</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Fast structural rules are enforced. Image verification stays in Audit until reliability gates pass.</a:t>
            </a:r>
            <a:endParaRPr lang="en-US" sz="1400" dirty="0"/>
          </a:p>
        </p:txBody>
      </p:sp>
      <p:sp>
        <p:nvSpPr>
          <p:cNvPr id="5" name="Shape 3"/>
          <p:cNvSpPr/>
          <p:nvPr/>
        </p:nvSpPr>
        <p:spPr>
          <a:xfrm>
            <a:off x="822960" y="2057400"/>
            <a:ext cx="3236976" cy="1920240"/>
          </a:xfrm>
          <a:prstGeom prst="roundRect">
            <a:avLst>
              <a:gd name="adj" fmla="val 5714"/>
            </a:avLst>
          </a:prstGeom>
          <a:solidFill>
            <a:srgbClr val="FFFFFF"/>
          </a:solidFill>
          <a:ln w="12700">
            <a:solidFill>
              <a:srgbClr val="DCE3E8"/>
            </a:solidFill>
            <a:prstDash val="solid"/>
          </a:ln>
        </p:spPr>
      </p:sp>
      <p:sp>
        <p:nvSpPr>
          <p:cNvPr id="6" name="Shape 4"/>
          <p:cNvSpPr/>
          <p:nvPr/>
        </p:nvSpPr>
        <p:spPr>
          <a:xfrm>
            <a:off x="1042416" y="2295144"/>
            <a:ext cx="438912" cy="438912"/>
          </a:xfrm>
          <a:prstGeom prst="ellipse">
            <a:avLst>
              <a:gd name="adj" fmla="val 25000"/>
            </a:avLst>
          </a:prstGeom>
          <a:solidFill>
            <a:srgbClr val="148A83"/>
          </a:solidFill>
          <a:ln w="12700">
            <a:solidFill>
              <a:srgbClr val="148A83">
                <a:alpha val="0"/>
              </a:srgbClr>
            </a:solidFill>
            <a:prstDash val="solid"/>
          </a:ln>
        </p:spPr>
      </p:sp>
      <p:sp>
        <p:nvSpPr>
          <p:cNvPr id="7" name="Text 5"/>
          <p:cNvSpPr txBox="1"/>
          <p:nvPr/>
        </p:nvSpPr>
        <p:spPr>
          <a:xfrm>
            <a:off x="1042416" y="2295144"/>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627632" y="2267712"/>
            <a:ext cx="2148840" cy="365760"/>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Digest and registry</a:t>
            </a:r>
            <a:endParaRPr lang="en-US" sz="1800" dirty="0"/>
          </a:p>
        </p:txBody>
      </p:sp>
      <p:sp>
        <p:nvSpPr>
          <p:cNvPr id="9" name="Text 7"/>
          <p:cNvSpPr txBox="1"/>
          <p:nvPr/>
        </p:nvSpPr>
        <p:spPr>
          <a:xfrm>
            <a:off x="1078992" y="2999232"/>
            <a:ext cx="2743200" cy="585216"/>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VAP: immutable digests and approved registries</a:t>
            </a:r>
            <a:endParaRPr lang="en-US" sz="1300" dirty="0"/>
          </a:p>
        </p:txBody>
      </p:sp>
      <p:sp>
        <p:nvSpPr>
          <p:cNvPr id="10" name="Shape 8"/>
          <p:cNvSpPr/>
          <p:nvPr/>
        </p:nvSpPr>
        <p:spPr>
          <a:xfrm>
            <a:off x="1078992" y="4233672"/>
            <a:ext cx="841248" cy="310896"/>
          </a:xfrm>
          <a:prstGeom prst="roundRect">
            <a:avLst>
              <a:gd name="adj" fmla="val 35294"/>
            </a:avLst>
          </a:prstGeom>
          <a:solidFill>
            <a:srgbClr val="DDF1EB"/>
          </a:solidFill>
          <a:ln w="12700">
            <a:solidFill>
              <a:srgbClr val="DDF1EB">
                <a:alpha val="0"/>
              </a:srgbClr>
            </a:solidFill>
            <a:prstDash val="solid"/>
          </a:ln>
        </p:spPr>
      </p:sp>
      <p:sp>
        <p:nvSpPr>
          <p:cNvPr id="11" name="Text 9"/>
          <p:cNvSpPr txBox="1"/>
          <p:nvPr/>
        </p:nvSpPr>
        <p:spPr>
          <a:xfrm>
            <a:off x="1170432" y="4242816"/>
            <a:ext cx="658368" cy="274320"/>
          </a:xfrm>
          <a:prstGeom prst="rect">
            <a:avLst/>
          </a:prstGeom>
          <a:noFill/>
          <a:ln/>
        </p:spPr>
        <p:txBody>
          <a:bodyPr wrap="square" lIns="0" tIns="0" rIns="0" bIns="0" rtlCol="0" anchor="ctr">
            <a:normAutofit/>
          </a:bodyPr>
          <a:lstStyle/>
          <a:p>
            <a:pPr algn="ctr" indent="0" marL="0">
              <a:buNone/>
            </a:pPr>
            <a:r>
              <a:rPr lang="en-US" sz="1000" b="1" dirty="0">
                <a:solidFill>
                  <a:srgbClr val="148A83"/>
                </a:solidFill>
                <a:latin typeface="Calibri" pitchFamily="34" charset="0"/>
                <a:ea typeface="Calibri" pitchFamily="34" charset="-122"/>
                <a:cs typeface="Calibri" pitchFamily="34" charset="-120"/>
              </a:rPr>
              <a:t>DENY</a:t>
            </a:r>
            <a:endParaRPr lang="en-US" sz="1000" dirty="0"/>
          </a:p>
        </p:txBody>
      </p:sp>
      <p:sp>
        <p:nvSpPr>
          <p:cNvPr id="12" name="Shape 10"/>
          <p:cNvSpPr/>
          <p:nvPr/>
        </p:nvSpPr>
        <p:spPr>
          <a:xfrm>
            <a:off x="4617720" y="2057400"/>
            <a:ext cx="3236976" cy="1920240"/>
          </a:xfrm>
          <a:prstGeom prst="roundRect">
            <a:avLst>
              <a:gd name="adj" fmla="val 5714"/>
            </a:avLst>
          </a:prstGeom>
          <a:solidFill>
            <a:srgbClr val="FFFFFF"/>
          </a:solidFill>
          <a:ln w="12700">
            <a:solidFill>
              <a:srgbClr val="DCE3E8"/>
            </a:solidFill>
            <a:prstDash val="solid"/>
          </a:ln>
        </p:spPr>
      </p:sp>
      <p:sp>
        <p:nvSpPr>
          <p:cNvPr id="13" name="Shape 11"/>
          <p:cNvSpPr/>
          <p:nvPr/>
        </p:nvSpPr>
        <p:spPr>
          <a:xfrm>
            <a:off x="4837176" y="2295144"/>
            <a:ext cx="438912" cy="438912"/>
          </a:xfrm>
          <a:prstGeom prst="ellipse">
            <a:avLst>
              <a:gd name="adj" fmla="val 25000"/>
            </a:avLst>
          </a:prstGeom>
          <a:solidFill>
            <a:srgbClr val="E7AD4B"/>
          </a:solidFill>
          <a:ln w="12700">
            <a:solidFill>
              <a:srgbClr val="E7AD4B">
                <a:alpha val="0"/>
              </a:srgbClr>
            </a:solidFill>
            <a:prstDash val="solid"/>
          </a:ln>
        </p:spPr>
      </p:sp>
      <p:sp>
        <p:nvSpPr>
          <p:cNvPr id="14" name="Text 12"/>
          <p:cNvSpPr txBox="1"/>
          <p:nvPr/>
        </p:nvSpPr>
        <p:spPr>
          <a:xfrm>
            <a:off x="4837176" y="2295144"/>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Text 13"/>
          <p:cNvSpPr txBox="1"/>
          <p:nvPr/>
        </p:nvSpPr>
        <p:spPr>
          <a:xfrm>
            <a:off x="5422392" y="2267712"/>
            <a:ext cx="2148840" cy="365760"/>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Supply-chain proof</a:t>
            </a:r>
            <a:endParaRPr lang="en-US" sz="1800" dirty="0"/>
          </a:p>
        </p:txBody>
      </p:sp>
      <p:sp>
        <p:nvSpPr>
          <p:cNvPr id="16" name="Text 14"/>
          <p:cNvSpPr txBox="1"/>
          <p:nvPr/>
        </p:nvSpPr>
        <p:spPr>
          <a:xfrm>
            <a:off x="4873752" y="2999232"/>
            <a:ext cx="2743200" cy="585216"/>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Kyverno: signatures, provenance and SBOM</a:t>
            </a:r>
            <a:endParaRPr lang="en-US" sz="1300" dirty="0"/>
          </a:p>
        </p:txBody>
      </p:sp>
      <p:sp>
        <p:nvSpPr>
          <p:cNvPr id="17" name="Shape 15"/>
          <p:cNvSpPr/>
          <p:nvPr/>
        </p:nvSpPr>
        <p:spPr>
          <a:xfrm>
            <a:off x="4873752" y="4233672"/>
            <a:ext cx="841248" cy="310896"/>
          </a:xfrm>
          <a:prstGeom prst="roundRect">
            <a:avLst>
              <a:gd name="adj" fmla="val 35294"/>
            </a:avLst>
          </a:prstGeom>
          <a:solidFill>
            <a:srgbClr val="F8EBD1"/>
          </a:solidFill>
          <a:ln w="12700">
            <a:solidFill>
              <a:srgbClr val="F8EBD1">
                <a:alpha val="0"/>
              </a:srgbClr>
            </a:solidFill>
            <a:prstDash val="solid"/>
          </a:ln>
        </p:spPr>
      </p:sp>
      <p:sp>
        <p:nvSpPr>
          <p:cNvPr id="18" name="Text 16"/>
          <p:cNvSpPr txBox="1"/>
          <p:nvPr/>
        </p:nvSpPr>
        <p:spPr>
          <a:xfrm>
            <a:off x="4965192" y="4242816"/>
            <a:ext cx="658368" cy="274320"/>
          </a:xfrm>
          <a:prstGeom prst="rect">
            <a:avLst/>
          </a:prstGeom>
          <a:noFill/>
          <a:ln/>
        </p:spPr>
        <p:txBody>
          <a:bodyPr wrap="square" lIns="0" tIns="0" rIns="0" bIns="0" rtlCol="0" anchor="ctr">
            <a:normAutofit/>
          </a:bodyPr>
          <a:lstStyle/>
          <a:p>
            <a:pPr algn="ctr" indent="0" marL="0">
              <a:buNone/>
            </a:pPr>
            <a:r>
              <a:rPr lang="en-US" sz="1000" b="1" dirty="0">
                <a:solidFill>
                  <a:srgbClr val="17212B"/>
                </a:solidFill>
                <a:latin typeface="Calibri" pitchFamily="34" charset="0"/>
                <a:ea typeface="Calibri" pitchFamily="34" charset="-122"/>
                <a:cs typeface="Calibri" pitchFamily="34" charset="-120"/>
              </a:rPr>
              <a:t>AUDIT</a:t>
            </a:r>
            <a:endParaRPr lang="en-US" sz="1000" dirty="0"/>
          </a:p>
        </p:txBody>
      </p:sp>
      <p:sp>
        <p:nvSpPr>
          <p:cNvPr id="19" name="Shape 17"/>
          <p:cNvSpPr/>
          <p:nvPr/>
        </p:nvSpPr>
        <p:spPr>
          <a:xfrm>
            <a:off x="8412480" y="2057400"/>
            <a:ext cx="3236976" cy="1920240"/>
          </a:xfrm>
          <a:prstGeom prst="roundRect">
            <a:avLst>
              <a:gd name="adj" fmla="val 5714"/>
            </a:avLst>
          </a:prstGeom>
          <a:solidFill>
            <a:srgbClr val="FFFFFF"/>
          </a:solidFill>
          <a:ln w="12700">
            <a:solidFill>
              <a:srgbClr val="DCE3E8"/>
            </a:solidFill>
            <a:prstDash val="solid"/>
          </a:ln>
        </p:spPr>
      </p:sp>
      <p:sp>
        <p:nvSpPr>
          <p:cNvPr id="20" name="Shape 18"/>
          <p:cNvSpPr/>
          <p:nvPr/>
        </p:nvSpPr>
        <p:spPr>
          <a:xfrm>
            <a:off x="8631936" y="2295144"/>
            <a:ext cx="438912" cy="438912"/>
          </a:xfrm>
          <a:prstGeom prst="ellipse">
            <a:avLst>
              <a:gd name="adj" fmla="val 25000"/>
            </a:avLst>
          </a:prstGeom>
          <a:solidFill>
            <a:srgbClr val="D96960"/>
          </a:solidFill>
          <a:ln w="12700">
            <a:solidFill>
              <a:srgbClr val="D96960">
                <a:alpha val="0"/>
              </a:srgbClr>
            </a:solidFill>
            <a:prstDash val="solid"/>
          </a:ln>
        </p:spPr>
      </p:sp>
      <p:sp>
        <p:nvSpPr>
          <p:cNvPr id="21" name="Text 19"/>
          <p:cNvSpPr txBox="1"/>
          <p:nvPr/>
        </p:nvSpPr>
        <p:spPr>
          <a:xfrm>
            <a:off x="8631936" y="2295144"/>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2" name="Text 20"/>
          <p:cNvSpPr txBox="1"/>
          <p:nvPr/>
        </p:nvSpPr>
        <p:spPr>
          <a:xfrm>
            <a:off x="9217152" y="2267712"/>
            <a:ext cx="2148840" cy="365760"/>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Pod hygiene</a:t>
            </a:r>
            <a:endParaRPr lang="en-US" sz="1800" dirty="0"/>
          </a:p>
        </p:txBody>
      </p:sp>
      <p:sp>
        <p:nvSpPr>
          <p:cNvPr id="23" name="Text 21"/>
          <p:cNvSpPr txBox="1"/>
          <p:nvPr/>
        </p:nvSpPr>
        <p:spPr>
          <a:xfrm>
            <a:off x="8668512" y="2999232"/>
            <a:ext cx="2743200" cy="585216"/>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Kyverno: workload security and runtime defaults</a:t>
            </a:r>
            <a:endParaRPr lang="en-US" sz="1300" dirty="0"/>
          </a:p>
        </p:txBody>
      </p:sp>
      <p:sp>
        <p:nvSpPr>
          <p:cNvPr id="24" name="Shape 22"/>
          <p:cNvSpPr/>
          <p:nvPr/>
        </p:nvSpPr>
        <p:spPr>
          <a:xfrm>
            <a:off x="8668512" y="4233672"/>
            <a:ext cx="841248" cy="310896"/>
          </a:xfrm>
          <a:prstGeom prst="roundRect">
            <a:avLst>
              <a:gd name="adj" fmla="val 35294"/>
            </a:avLst>
          </a:prstGeom>
          <a:solidFill>
            <a:srgbClr val="F5E0DE"/>
          </a:solidFill>
          <a:ln w="12700">
            <a:solidFill>
              <a:srgbClr val="F5E0DE">
                <a:alpha val="0"/>
              </a:srgbClr>
            </a:solidFill>
            <a:prstDash val="solid"/>
          </a:ln>
        </p:spPr>
      </p:sp>
      <p:sp>
        <p:nvSpPr>
          <p:cNvPr id="25" name="Text 23"/>
          <p:cNvSpPr txBox="1"/>
          <p:nvPr/>
        </p:nvSpPr>
        <p:spPr>
          <a:xfrm>
            <a:off x="8759952" y="4242816"/>
            <a:ext cx="658368" cy="274320"/>
          </a:xfrm>
          <a:prstGeom prst="rect">
            <a:avLst/>
          </a:prstGeom>
          <a:noFill/>
          <a:ln/>
        </p:spPr>
        <p:txBody>
          <a:bodyPr wrap="square" lIns="0" tIns="0" rIns="0" bIns="0" rtlCol="0" anchor="ctr">
            <a:normAutofit/>
          </a:bodyPr>
          <a:lstStyle/>
          <a:p>
            <a:pPr algn="ctr" indent="0" marL="0">
              <a:buNone/>
            </a:pPr>
            <a:r>
              <a:rPr lang="en-US" sz="1000" b="1" dirty="0">
                <a:solidFill>
                  <a:srgbClr val="148A83"/>
                </a:solidFill>
                <a:latin typeface="Calibri" pitchFamily="34" charset="0"/>
                <a:ea typeface="Calibri" pitchFamily="34" charset="-122"/>
                <a:cs typeface="Calibri" pitchFamily="34" charset="-120"/>
              </a:rPr>
              <a:t>DENY</a:t>
            </a:r>
            <a:endParaRPr lang="en-US" sz="1000" dirty="0"/>
          </a:p>
        </p:txBody>
      </p:sp>
      <p:sp>
        <p:nvSpPr>
          <p:cNvPr id="26" name="Shape 24"/>
          <p:cNvSpPr/>
          <p:nvPr/>
        </p:nvSpPr>
        <p:spPr>
          <a:xfrm>
            <a:off x="960120" y="4892040"/>
            <a:ext cx="10241280" cy="850392"/>
          </a:xfrm>
          <a:prstGeom prst="roundRect">
            <a:avLst>
              <a:gd name="adj" fmla="val 12903"/>
            </a:avLst>
          </a:prstGeom>
          <a:solidFill>
            <a:srgbClr val="18212B"/>
          </a:solidFill>
          <a:ln w="12700">
            <a:solidFill>
              <a:srgbClr val="18212B">
                <a:alpha val="0"/>
              </a:srgbClr>
            </a:solidFill>
            <a:prstDash val="solid"/>
          </a:ln>
        </p:spPr>
      </p:sp>
      <p:sp>
        <p:nvSpPr>
          <p:cNvPr id="27" name="Text 25"/>
          <p:cNvSpPr txBox="1"/>
          <p:nvPr/>
        </p:nvSpPr>
        <p:spPr>
          <a:xfrm>
            <a:off x="1261872" y="5084064"/>
            <a:ext cx="9646920" cy="438912"/>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Observed cost: 14–15 s per warm Pod  ·  webhook timeout: 30 s  ·  measured worst case leaves only 10–15 s margin</a:t>
            </a:r>
            <a:endParaRPr lang="en-US" sz="15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E1 · SERVICE SCAFFOLDING</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A service environment appears from one command</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The CLI creates the service repository and takes it through build, promotion and a healthy rollout.</a:t>
            </a:r>
            <a:endParaRPr lang="en-US" sz="1400" dirty="0"/>
          </a:p>
        </p:txBody>
      </p:sp>
      <p:sp>
        <p:nvSpPr>
          <p:cNvPr id="5" name="Shape 3"/>
          <p:cNvSpPr/>
          <p:nvPr/>
        </p:nvSpPr>
        <p:spPr>
          <a:xfrm>
            <a:off x="822960" y="1993392"/>
            <a:ext cx="2505456" cy="2084832"/>
          </a:xfrm>
          <a:prstGeom prst="roundRect">
            <a:avLst>
              <a:gd name="adj" fmla="val 5263"/>
            </a:avLst>
          </a:prstGeom>
          <a:solidFill>
            <a:srgbClr val="FFFFFF"/>
          </a:solidFill>
          <a:ln w="12700">
            <a:solidFill>
              <a:srgbClr val="DCE3E8"/>
            </a:solidFill>
            <a:prstDash val="solid"/>
          </a:ln>
        </p:spPr>
      </p:sp>
      <p:sp>
        <p:nvSpPr>
          <p:cNvPr id="6" name="Text 4"/>
          <p:cNvSpPr txBox="1"/>
          <p:nvPr/>
        </p:nvSpPr>
        <p:spPr>
          <a:xfrm>
            <a:off x="1042416" y="2157984"/>
            <a:ext cx="2066544" cy="585216"/>
          </a:xfrm>
          <a:prstGeom prst="rect">
            <a:avLst/>
          </a:prstGeom>
          <a:noFill/>
          <a:ln/>
        </p:spPr>
        <p:txBody>
          <a:bodyPr wrap="square" lIns="0" tIns="0" rIns="0" bIns="0" rtlCol="0" anchor="ctr">
            <a:normAutofit/>
          </a:bodyPr>
          <a:lstStyle/>
          <a:p>
            <a:pPr algn="l" indent="0" marL="0">
              <a:buNone/>
            </a:pPr>
            <a:r>
              <a:rPr lang="en-US" sz="3400" b="1" dirty="0">
                <a:solidFill>
                  <a:srgbClr val="148A83"/>
                </a:solidFill>
                <a:latin typeface="Cambria" pitchFamily="34" charset="0"/>
                <a:ea typeface="Cambria" pitchFamily="34" charset="-122"/>
                <a:cs typeface="Cambria" pitchFamily="34" charset="-120"/>
              </a:rPr>
              <a:t>5 / 5</a:t>
            </a:r>
            <a:endParaRPr lang="en-US" sz="3400" dirty="0"/>
          </a:p>
        </p:txBody>
      </p:sp>
      <p:sp>
        <p:nvSpPr>
          <p:cNvPr id="7" name="Text 5"/>
          <p:cNvSpPr txBox="1"/>
          <p:nvPr/>
        </p:nvSpPr>
        <p:spPr>
          <a:xfrm>
            <a:off x="1042416" y="2834640"/>
            <a:ext cx="2066544"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full kind runs</a:t>
            </a:r>
            <a:endParaRPr lang="en-US" sz="1500" dirty="0"/>
          </a:p>
        </p:txBody>
      </p:sp>
      <p:sp>
        <p:nvSpPr>
          <p:cNvPr id="8" name="Text 6"/>
          <p:cNvSpPr txBox="1"/>
          <p:nvPr/>
        </p:nvSpPr>
        <p:spPr>
          <a:xfrm>
            <a:off x="1042416" y="3621024"/>
            <a:ext cx="2066544"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all reached a healthy deployment</a:t>
            </a:r>
            <a:endParaRPr lang="en-US" sz="1000" dirty="0"/>
          </a:p>
        </p:txBody>
      </p:sp>
      <p:sp>
        <p:nvSpPr>
          <p:cNvPr id="9" name="Shape 7"/>
          <p:cNvSpPr/>
          <p:nvPr/>
        </p:nvSpPr>
        <p:spPr>
          <a:xfrm>
            <a:off x="3584448" y="1993392"/>
            <a:ext cx="2505456" cy="2084832"/>
          </a:xfrm>
          <a:prstGeom prst="roundRect">
            <a:avLst>
              <a:gd name="adj" fmla="val 5263"/>
            </a:avLst>
          </a:prstGeom>
          <a:solidFill>
            <a:srgbClr val="FFFFFF"/>
          </a:solidFill>
          <a:ln w="12700">
            <a:solidFill>
              <a:srgbClr val="DCE3E8"/>
            </a:solidFill>
            <a:prstDash val="solid"/>
          </a:ln>
        </p:spPr>
      </p:sp>
      <p:sp>
        <p:nvSpPr>
          <p:cNvPr id="10" name="Text 8"/>
          <p:cNvSpPr txBox="1"/>
          <p:nvPr/>
        </p:nvSpPr>
        <p:spPr>
          <a:xfrm>
            <a:off x="3803904" y="2157984"/>
            <a:ext cx="2066544" cy="585216"/>
          </a:xfrm>
          <a:prstGeom prst="rect">
            <a:avLst/>
          </a:prstGeom>
          <a:noFill/>
          <a:ln/>
        </p:spPr>
        <p:txBody>
          <a:bodyPr wrap="square" lIns="0" tIns="0" rIns="0" bIns="0" rtlCol="0" anchor="ctr">
            <a:normAutofit/>
          </a:bodyPr>
          <a:lstStyle/>
          <a:p>
            <a:pPr algn="l" indent="0" marL="0">
              <a:buNone/>
            </a:pPr>
            <a:r>
              <a:rPr lang="en-US" sz="3400" b="1" dirty="0">
                <a:solidFill>
                  <a:srgbClr val="148A83"/>
                </a:solidFill>
                <a:latin typeface="Cambria" pitchFamily="34" charset="0"/>
                <a:ea typeface="Cambria" pitchFamily="34" charset="-122"/>
                <a:cs typeface="Cambria" pitchFamily="34" charset="-120"/>
              </a:rPr>
              <a:t>8.6 min</a:t>
            </a:r>
            <a:endParaRPr lang="en-US" sz="3400" dirty="0"/>
          </a:p>
        </p:txBody>
      </p:sp>
      <p:sp>
        <p:nvSpPr>
          <p:cNvPr id="11" name="Text 9"/>
          <p:cNvSpPr txBox="1"/>
          <p:nvPr/>
        </p:nvSpPr>
        <p:spPr>
          <a:xfrm>
            <a:off x="3803904" y="2834640"/>
            <a:ext cx="2066544"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median time</a:t>
            </a:r>
            <a:endParaRPr lang="en-US" sz="1500" dirty="0"/>
          </a:p>
        </p:txBody>
      </p:sp>
      <p:sp>
        <p:nvSpPr>
          <p:cNvPr id="12" name="Text 10"/>
          <p:cNvSpPr txBox="1"/>
          <p:nvPr/>
        </p:nvSpPr>
        <p:spPr>
          <a:xfrm>
            <a:off x="3803904" y="3621024"/>
            <a:ext cx="2066544"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range: 7.6–9.6 minutes</a:t>
            </a:r>
            <a:endParaRPr lang="en-US" sz="1000" dirty="0"/>
          </a:p>
        </p:txBody>
      </p:sp>
      <p:sp>
        <p:nvSpPr>
          <p:cNvPr id="13" name="Shape 11"/>
          <p:cNvSpPr/>
          <p:nvPr/>
        </p:nvSpPr>
        <p:spPr>
          <a:xfrm>
            <a:off x="6345936" y="1993392"/>
            <a:ext cx="2505456" cy="2084832"/>
          </a:xfrm>
          <a:prstGeom prst="roundRect">
            <a:avLst>
              <a:gd name="adj" fmla="val 5263"/>
            </a:avLst>
          </a:prstGeom>
          <a:solidFill>
            <a:srgbClr val="FFFFFF"/>
          </a:solidFill>
          <a:ln w="12700">
            <a:solidFill>
              <a:srgbClr val="DCE3E8"/>
            </a:solidFill>
            <a:prstDash val="solid"/>
          </a:ln>
        </p:spPr>
      </p:sp>
      <p:sp>
        <p:nvSpPr>
          <p:cNvPr id="14" name="Text 12"/>
          <p:cNvSpPr txBox="1"/>
          <p:nvPr/>
        </p:nvSpPr>
        <p:spPr>
          <a:xfrm>
            <a:off x="6565392" y="2157984"/>
            <a:ext cx="2066544" cy="585216"/>
          </a:xfrm>
          <a:prstGeom prst="rect">
            <a:avLst/>
          </a:prstGeom>
          <a:noFill/>
          <a:ln/>
        </p:spPr>
        <p:txBody>
          <a:bodyPr wrap="square" lIns="0" tIns="0" rIns="0" bIns="0" rtlCol="0" anchor="ctr">
            <a:normAutofit/>
          </a:bodyPr>
          <a:lstStyle/>
          <a:p>
            <a:pPr algn="l" indent="0" marL="0">
              <a:buNone/>
            </a:pPr>
            <a:r>
              <a:rPr lang="en-US" sz="3400" b="1" dirty="0">
                <a:solidFill>
                  <a:srgbClr val="148A83"/>
                </a:solidFill>
                <a:latin typeface="Cambria" pitchFamily="34" charset="0"/>
                <a:ea typeface="Cambria" pitchFamily="34" charset="-122"/>
                <a:cs typeface="Cambria" pitchFamily="34" charset="-120"/>
              </a:rPr>
              <a:t>0</a:t>
            </a:r>
            <a:endParaRPr lang="en-US" sz="3400" dirty="0"/>
          </a:p>
        </p:txBody>
      </p:sp>
      <p:sp>
        <p:nvSpPr>
          <p:cNvPr id="15" name="Text 13"/>
          <p:cNvSpPr txBox="1"/>
          <p:nvPr/>
        </p:nvSpPr>
        <p:spPr>
          <a:xfrm>
            <a:off x="6565392" y="2834640"/>
            <a:ext cx="2066544"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manual steps</a:t>
            </a:r>
            <a:endParaRPr lang="en-US" sz="1500" dirty="0"/>
          </a:p>
        </p:txBody>
      </p:sp>
      <p:sp>
        <p:nvSpPr>
          <p:cNvPr id="16" name="Text 14"/>
          <p:cNvSpPr txBox="1"/>
          <p:nvPr/>
        </p:nvSpPr>
        <p:spPr>
          <a:xfrm>
            <a:off x="6565392" y="3621024"/>
            <a:ext cx="2066544"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from command to healthy service</a:t>
            </a:r>
            <a:endParaRPr lang="en-US" sz="1000" dirty="0"/>
          </a:p>
        </p:txBody>
      </p:sp>
      <p:sp>
        <p:nvSpPr>
          <p:cNvPr id="17" name="Shape 15"/>
          <p:cNvSpPr/>
          <p:nvPr/>
        </p:nvSpPr>
        <p:spPr>
          <a:xfrm>
            <a:off x="9144000" y="1993392"/>
            <a:ext cx="2231136" cy="2084832"/>
          </a:xfrm>
          <a:prstGeom prst="roundRect">
            <a:avLst>
              <a:gd name="adj" fmla="val 5263"/>
            </a:avLst>
          </a:prstGeom>
          <a:solidFill>
            <a:srgbClr val="FFFFFF"/>
          </a:solidFill>
          <a:ln w="12700">
            <a:solidFill>
              <a:srgbClr val="DCE3E8"/>
            </a:solidFill>
            <a:prstDash val="solid"/>
          </a:ln>
        </p:spPr>
      </p:sp>
      <p:sp>
        <p:nvSpPr>
          <p:cNvPr id="18" name="Text 16"/>
          <p:cNvSpPr txBox="1"/>
          <p:nvPr/>
        </p:nvSpPr>
        <p:spPr>
          <a:xfrm>
            <a:off x="9363456" y="2322576"/>
            <a:ext cx="1773936" cy="420624"/>
          </a:xfrm>
          <a:prstGeom prst="rect">
            <a:avLst/>
          </a:prstGeom>
          <a:noFill/>
          <a:ln/>
        </p:spPr>
        <p:txBody>
          <a:bodyPr wrap="square" lIns="0" tIns="0" rIns="0" bIns="0" rtlCol="0" anchor="ctr">
            <a:normAutofit/>
          </a:bodyPr>
          <a:lstStyle/>
          <a:p>
            <a:pPr algn="ctr" indent="0" marL="0">
              <a:buNone/>
            </a:pPr>
            <a:r>
              <a:rPr lang="en-US" sz="2100" b="1" dirty="0">
                <a:solidFill>
                  <a:srgbClr val="17212B"/>
                </a:solidFill>
                <a:latin typeface="Cambria" pitchFamily="34" charset="0"/>
                <a:ea typeface="Cambria" pitchFamily="34" charset="-122"/>
                <a:cs typeface="Cambria" pitchFamily="34" charset="-120"/>
              </a:rPr>
              <a:t>warden new</a:t>
            </a:r>
            <a:endParaRPr lang="en-US" sz="2100" dirty="0"/>
          </a:p>
        </p:txBody>
      </p:sp>
      <p:sp>
        <p:nvSpPr>
          <p:cNvPr id="19" name="Shape 17"/>
          <p:cNvSpPr/>
          <p:nvPr/>
        </p:nvSpPr>
        <p:spPr>
          <a:xfrm>
            <a:off x="9427464" y="3154680"/>
            <a:ext cx="384048" cy="384048"/>
          </a:xfrm>
          <a:prstGeom prst="ellipse">
            <a:avLst>
              <a:gd name="adj" fmla="val 28571"/>
            </a:avLst>
          </a:prstGeom>
          <a:solidFill>
            <a:srgbClr val="148A83"/>
          </a:solidFill>
          <a:ln w="12700">
            <a:solidFill>
              <a:srgbClr val="148A83">
                <a:alpha val="0"/>
              </a:srgbClr>
            </a:solidFill>
            <a:prstDash val="solid"/>
          </a:ln>
        </p:spPr>
      </p:sp>
      <p:sp>
        <p:nvSpPr>
          <p:cNvPr id="20" name="Shape 18"/>
          <p:cNvSpPr/>
          <p:nvPr/>
        </p:nvSpPr>
        <p:spPr>
          <a:xfrm>
            <a:off x="10634472" y="3154680"/>
            <a:ext cx="384048" cy="384048"/>
          </a:xfrm>
          <a:prstGeom prst="ellipse">
            <a:avLst>
              <a:gd name="adj" fmla="val 28571"/>
            </a:avLst>
          </a:prstGeom>
          <a:solidFill>
            <a:srgbClr val="B9E769"/>
          </a:solidFill>
          <a:ln w="12700">
            <a:solidFill>
              <a:srgbClr val="B9E769">
                <a:alpha val="0"/>
              </a:srgbClr>
            </a:solidFill>
            <a:prstDash val="solid"/>
          </a:ln>
        </p:spPr>
      </p:sp>
      <p:sp>
        <p:nvSpPr>
          <p:cNvPr id="21" name="Shape 19"/>
          <p:cNvSpPr/>
          <p:nvPr/>
        </p:nvSpPr>
        <p:spPr>
          <a:xfrm>
            <a:off x="9829800" y="3346704"/>
            <a:ext cx="768096" cy="0"/>
          </a:xfrm>
          <a:prstGeom prst="line">
            <a:avLst/>
          </a:prstGeom>
          <a:noFill/>
          <a:ln w="22860">
            <a:solidFill>
              <a:srgbClr val="536170"/>
            </a:solidFill>
            <a:prstDash val="solid"/>
            <a:tailEnd type="triangle"/>
          </a:ln>
        </p:spPr>
      </p:sp>
      <p:sp>
        <p:nvSpPr>
          <p:cNvPr id="22" name="Text 20"/>
          <p:cNvSpPr txBox="1"/>
          <p:nvPr/>
        </p:nvSpPr>
        <p:spPr>
          <a:xfrm>
            <a:off x="9317736" y="3675888"/>
            <a:ext cx="1874520" cy="228600"/>
          </a:xfrm>
          <a:prstGeom prst="rect">
            <a:avLst/>
          </a:prstGeom>
          <a:noFill/>
          <a:ln/>
        </p:spPr>
        <p:txBody>
          <a:bodyPr wrap="square" lIns="0" tIns="0" rIns="0" bIns="0" rtlCol="0" anchor="ctr">
            <a:normAutofit/>
          </a:bodyPr>
          <a:lstStyle/>
          <a:p>
            <a:pPr algn="ctr" indent="0" marL="0">
              <a:buNone/>
            </a:pPr>
            <a:r>
              <a:rPr lang="en-US" sz="1100" dirty="0">
                <a:solidFill>
                  <a:srgbClr val="536170"/>
                </a:solidFill>
                <a:latin typeface="Calibri" pitchFamily="34" charset="0"/>
                <a:ea typeface="Calibri" pitchFamily="34" charset="-122"/>
                <a:cs typeface="Calibri" pitchFamily="34" charset="-120"/>
              </a:rPr>
              <a:t>source → rollout</a:t>
            </a:r>
            <a:endParaRPr lang="en-US" sz="1100" dirty="0"/>
          </a:p>
        </p:txBody>
      </p:sp>
      <p:sp>
        <p:nvSpPr>
          <p:cNvPr id="23" name="Text 21"/>
          <p:cNvSpPr txBox="1"/>
          <p:nvPr/>
        </p:nvSpPr>
        <p:spPr>
          <a:xfrm>
            <a:off x="2011680" y="4956048"/>
            <a:ext cx="8138160" cy="438912"/>
          </a:xfrm>
          <a:prstGeom prst="rect">
            <a:avLst/>
          </a:prstGeom>
          <a:noFill/>
          <a:ln/>
        </p:spPr>
        <p:txBody>
          <a:bodyPr wrap="square" lIns="0" tIns="0" rIns="0" bIns="0" rtlCol="0" anchor="ctr">
            <a:normAutofit/>
          </a:bodyPr>
          <a:lstStyle/>
          <a:p>
            <a:pPr algn="ctr" indent="0" marL="0">
              <a:buNone/>
            </a:pPr>
            <a:r>
              <a:rPr lang="en-US" sz="1700" b="1" dirty="0">
                <a:solidFill>
                  <a:srgbClr val="536170"/>
                </a:solidFill>
                <a:latin typeface="Calibri" pitchFamily="34" charset="0"/>
                <a:ea typeface="Calibri" pitchFamily="34" charset="-122"/>
                <a:cs typeface="Calibri" pitchFamily="34" charset="-120"/>
              </a:rPr>
              <a:t>Still open: Azure E1 runs and a hand-timed baseline for comparison.</a:t>
            </a:r>
            <a:endParaRPr lang="en-US" sz="17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E2 · ADMISSION ATTACKS</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The controlled attack suite rejected every case</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Each adversarial image was denied for its expected reason in tests on kind and AKS.</a:t>
            </a:r>
            <a:endParaRPr lang="en-US" sz="1400" dirty="0"/>
          </a:p>
        </p:txBody>
      </p:sp>
      <p:sp>
        <p:nvSpPr>
          <p:cNvPr id="5" name="Shape 3"/>
          <p:cNvSpPr/>
          <p:nvPr/>
        </p:nvSpPr>
        <p:spPr>
          <a:xfrm>
            <a:off x="960120" y="2157984"/>
            <a:ext cx="548640" cy="548640"/>
          </a:xfrm>
          <a:prstGeom prst="ellipse">
            <a:avLst>
              <a:gd name="adj" fmla="val 20000"/>
            </a:avLst>
          </a:prstGeom>
          <a:solidFill>
            <a:srgbClr val="263340"/>
          </a:solidFill>
          <a:ln w="12700">
            <a:solidFill>
              <a:srgbClr val="263340">
                <a:alpha val="0"/>
              </a:srgbClr>
            </a:solidFill>
            <a:prstDash val="solid"/>
          </a:ln>
        </p:spPr>
      </p:sp>
      <p:sp>
        <p:nvSpPr>
          <p:cNvPr id="6" name="Text 4"/>
          <p:cNvSpPr txBox="1"/>
          <p:nvPr/>
        </p:nvSpPr>
        <p:spPr>
          <a:xfrm>
            <a:off x="960120" y="2157984"/>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A01</a:t>
            </a:r>
            <a:endParaRPr lang="en-US" sz="1300" dirty="0"/>
          </a:p>
        </p:txBody>
      </p:sp>
      <p:sp>
        <p:nvSpPr>
          <p:cNvPr id="7" name="Shape 5"/>
          <p:cNvSpPr/>
          <p:nvPr/>
        </p:nvSpPr>
        <p:spPr>
          <a:xfrm>
            <a:off x="2404872" y="2157984"/>
            <a:ext cx="548640" cy="548640"/>
          </a:xfrm>
          <a:prstGeom prst="ellipse">
            <a:avLst>
              <a:gd name="adj" fmla="val 20000"/>
            </a:avLst>
          </a:prstGeom>
          <a:solidFill>
            <a:srgbClr val="148A83"/>
          </a:solidFill>
          <a:ln w="12700">
            <a:solidFill>
              <a:srgbClr val="148A83">
                <a:alpha val="0"/>
              </a:srgbClr>
            </a:solidFill>
            <a:prstDash val="solid"/>
          </a:ln>
        </p:spPr>
      </p:sp>
      <p:sp>
        <p:nvSpPr>
          <p:cNvPr id="8" name="Text 6"/>
          <p:cNvSpPr txBox="1"/>
          <p:nvPr/>
        </p:nvSpPr>
        <p:spPr>
          <a:xfrm>
            <a:off x="2404872" y="2157984"/>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A02</a:t>
            </a:r>
            <a:endParaRPr lang="en-US" sz="1300" dirty="0"/>
          </a:p>
        </p:txBody>
      </p:sp>
      <p:sp>
        <p:nvSpPr>
          <p:cNvPr id="9" name="Shape 7"/>
          <p:cNvSpPr/>
          <p:nvPr/>
        </p:nvSpPr>
        <p:spPr>
          <a:xfrm>
            <a:off x="3849624" y="2157984"/>
            <a:ext cx="548640" cy="548640"/>
          </a:xfrm>
          <a:prstGeom prst="ellipse">
            <a:avLst>
              <a:gd name="adj" fmla="val 20000"/>
            </a:avLst>
          </a:prstGeom>
          <a:solidFill>
            <a:srgbClr val="263340"/>
          </a:solidFill>
          <a:ln w="12700">
            <a:solidFill>
              <a:srgbClr val="263340">
                <a:alpha val="0"/>
              </a:srgbClr>
            </a:solidFill>
            <a:prstDash val="solid"/>
          </a:ln>
        </p:spPr>
      </p:sp>
      <p:sp>
        <p:nvSpPr>
          <p:cNvPr id="10" name="Text 8"/>
          <p:cNvSpPr txBox="1"/>
          <p:nvPr/>
        </p:nvSpPr>
        <p:spPr>
          <a:xfrm>
            <a:off x="3849624" y="2157984"/>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A03</a:t>
            </a:r>
            <a:endParaRPr lang="en-US" sz="1300" dirty="0"/>
          </a:p>
        </p:txBody>
      </p:sp>
      <p:sp>
        <p:nvSpPr>
          <p:cNvPr id="11" name="Shape 9"/>
          <p:cNvSpPr/>
          <p:nvPr/>
        </p:nvSpPr>
        <p:spPr>
          <a:xfrm>
            <a:off x="5294376" y="2157984"/>
            <a:ext cx="548640" cy="548640"/>
          </a:xfrm>
          <a:prstGeom prst="ellipse">
            <a:avLst>
              <a:gd name="adj" fmla="val 20000"/>
            </a:avLst>
          </a:prstGeom>
          <a:solidFill>
            <a:srgbClr val="148A83"/>
          </a:solidFill>
          <a:ln w="12700">
            <a:solidFill>
              <a:srgbClr val="148A83">
                <a:alpha val="0"/>
              </a:srgbClr>
            </a:solidFill>
            <a:prstDash val="solid"/>
          </a:ln>
        </p:spPr>
      </p:sp>
      <p:sp>
        <p:nvSpPr>
          <p:cNvPr id="12" name="Text 10"/>
          <p:cNvSpPr txBox="1"/>
          <p:nvPr/>
        </p:nvSpPr>
        <p:spPr>
          <a:xfrm>
            <a:off x="5294376" y="2157984"/>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A04</a:t>
            </a:r>
            <a:endParaRPr lang="en-US" sz="1300" dirty="0"/>
          </a:p>
        </p:txBody>
      </p:sp>
      <p:sp>
        <p:nvSpPr>
          <p:cNvPr id="13" name="Shape 11"/>
          <p:cNvSpPr/>
          <p:nvPr/>
        </p:nvSpPr>
        <p:spPr>
          <a:xfrm>
            <a:off x="6739128" y="2157984"/>
            <a:ext cx="548640" cy="548640"/>
          </a:xfrm>
          <a:prstGeom prst="ellipse">
            <a:avLst>
              <a:gd name="adj" fmla="val 20000"/>
            </a:avLst>
          </a:prstGeom>
          <a:solidFill>
            <a:srgbClr val="263340"/>
          </a:solidFill>
          <a:ln w="12700">
            <a:solidFill>
              <a:srgbClr val="263340">
                <a:alpha val="0"/>
              </a:srgbClr>
            </a:solidFill>
            <a:prstDash val="solid"/>
          </a:ln>
        </p:spPr>
      </p:sp>
      <p:sp>
        <p:nvSpPr>
          <p:cNvPr id="14" name="Text 12"/>
          <p:cNvSpPr txBox="1"/>
          <p:nvPr/>
        </p:nvSpPr>
        <p:spPr>
          <a:xfrm>
            <a:off x="6739128" y="2157984"/>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A05</a:t>
            </a:r>
            <a:endParaRPr lang="en-US" sz="1300" dirty="0"/>
          </a:p>
        </p:txBody>
      </p:sp>
      <p:sp>
        <p:nvSpPr>
          <p:cNvPr id="15" name="Shape 13"/>
          <p:cNvSpPr/>
          <p:nvPr/>
        </p:nvSpPr>
        <p:spPr>
          <a:xfrm>
            <a:off x="8183880" y="2157984"/>
            <a:ext cx="548640" cy="548640"/>
          </a:xfrm>
          <a:prstGeom prst="ellipse">
            <a:avLst>
              <a:gd name="adj" fmla="val 20000"/>
            </a:avLst>
          </a:prstGeom>
          <a:solidFill>
            <a:srgbClr val="148A83"/>
          </a:solidFill>
          <a:ln w="12700">
            <a:solidFill>
              <a:srgbClr val="148A83">
                <a:alpha val="0"/>
              </a:srgbClr>
            </a:solidFill>
            <a:prstDash val="solid"/>
          </a:ln>
        </p:spPr>
      </p:sp>
      <p:sp>
        <p:nvSpPr>
          <p:cNvPr id="16" name="Text 14"/>
          <p:cNvSpPr txBox="1"/>
          <p:nvPr/>
        </p:nvSpPr>
        <p:spPr>
          <a:xfrm>
            <a:off x="8183880" y="2157984"/>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A06</a:t>
            </a:r>
            <a:endParaRPr lang="en-US" sz="1300" dirty="0"/>
          </a:p>
        </p:txBody>
      </p:sp>
      <p:sp>
        <p:nvSpPr>
          <p:cNvPr id="17" name="Shape 15"/>
          <p:cNvSpPr/>
          <p:nvPr/>
        </p:nvSpPr>
        <p:spPr>
          <a:xfrm>
            <a:off x="9628632" y="2157984"/>
            <a:ext cx="548640" cy="548640"/>
          </a:xfrm>
          <a:prstGeom prst="ellipse">
            <a:avLst>
              <a:gd name="adj" fmla="val 20000"/>
            </a:avLst>
          </a:prstGeom>
          <a:solidFill>
            <a:srgbClr val="263340"/>
          </a:solidFill>
          <a:ln w="12700">
            <a:solidFill>
              <a:srgbClr val="263340">
                <a:alpha val="0"/>
              </a:srgbClr>
            </a:solidFill>
            <a:prstDash val="solid"/>
          </a:ln>
        </p:spPr>
      </p:sp>
      <p:sp>
        <p:nvSpPr>
          <p:cNvPr id="18" name="Text 16"/>
          <p:cNvSpPr txBox="1"/>
          <p:nvPr/>
        </p:nvSpPr>
        <p:spPr>
          <a:xfrm>
            <a:off x="9628632" y="2157984"/>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A07</a:t>
            </a:r>
            <a:endParaRPr lang="en-US" sz="1300" dirty="0"/>
          </a:p>
        </p:txBody>
      </p:sp>
      <p:sp>
        <p:nvSpPr>
          <p:cNvPr id="19" name="Shape 17"/>
          <p:cNvSpPr/>
          <p:nvPr/>
        </p:nvSpPr>
        <p:spPr>
          <a:xfrm>
            <a:off x="960120" y="3108960"/>
            <a:ext cx="548640" cy="548640"/>
          </a:xfrm>
          <a:prstGeom prst="ellipse">
            <a:avLst>
              <a:gd name="adj" fmla="val 20000"/>
            </a:avLst>
          </a:prstGeom>
          <a:solidFill>
            <a:srgbClr val="148A83"/>
          </a:solidFill>
          <a:ln w="12700">
            <a:solidFill>
              <a:srgbClr val="148A83">
                <a:alpha val="0"/>
              </a:srgbClr>
            </a:solidFill>
            <a:prstDash val="solid"/>
          </a:ln>
        </p:spPr>
      </p:sp>
      <p:sp>
        <p:nvSpPr>
          <p:cNvPr id="20" name="Text 18"/>
          <p:cNvSpPr txBox="1"/>
          <p:nvPr/>
        </p:nvSpPr>
        <p:spPr>
          <a:xfrm>
            <a:off x="960120" y="3108960"/>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A08</a:t>
            </a:r>
            <a:endParaRPr lang="en-US" sz="1300" dirty="0"/>
          </a:p>
        </p:txBody>
      </p:sp>
      <p:sp>
        <p:nvSpPr>
          <p:cNvPr id="21" name="Shape 19"/>
          <p:cNvSpPr/>
          <p:nvPr/>
        </p:nvSpPr>
        <p:spPr>
          <a:xfrm>
            <a:off x="2404872" y="3108960"/>
            <a:ext cx="548640" cy="548640"/>
          </a:xfrm>
          <a:prstGeom prst="ellipse">
            <a:avLst>
              <a:gd name="adj" fmla="val 20000"/>
            </a:avLst>
          </a:prstGeom>
          <a:solidFill>
            <a:srgbClr val="263340"/>
          </a:solidFill>
          <a:ln w="12700">
            <a:solidFill>
              <a:srgbClr val="263340">
                <a:alpha val="0"/>
              </a:srgbClr>
            </a:solidFill>
            <a:prstDash val="solid"/>
          </a:ln>
        </p:spPr>
      </p:sp>
      <p:sp>
        <p:nvSpPr>
          <p:cNvPr id="22" name="Text 20"/>
          <p:cNvSpPr txBox="1"/>
          <p:nvPr/>
        </p:nvSpPr>
        <p:spPr>
          <a:xfrm>
            <a:off x="2404872" y="3108960"/>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A09</a:t>
            </a:r>
            <a:endParaRPr lang="en-US" sz="1300" dirty="0"/>
          </a:p>
        </p:txBody>
      </p:sp>
      <p:sp>
        <p:nvSpPr>
          <p:cNvPr id="23" name="Shape 21"/>
          <p:cNvSpPr/>
          <p:nvPr/>
        </p:nvSpPr>
        <p:spPr>
          <a:xfrm>
            <a:off x="3849624" y="3108960"/>
            <a:ext cx="548640" cy="548640"/>
          </a:xfrm>
          <a:prstGeom prst="ellipse">
            <a:avLst>
              <a:gd name="adj" fmla="val 20000"/>
            </a:avLst>
          </a:prstGeom>
          <a:solidFill>
            <a:srgbClr val="148A83"/>
          </a:solidFill>
          <a:ln w="12700">
            <a:solidFill>
              <a:srgbClr val="148A83">
                <a:alpha val="0"/>
              </a:srgbClr>
            </a:solidFill>
            <a:prstDash val="solid"/>
          </a:ln>
        </p:spPr>
      </p:sp>
      <p:sp>
        <p:nvSpPr>
          <p:cNvPr id="24" name="Text 22"/>
          <p:cNvSpPr txBox="1"/>
          <p:nvPr/>
        </p:nvSpPr>
        <p:spPr>
          <a:xfrm>
            <a:off x="3849624" y="3108960"/>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A10</a:t>
            </a:r>
            <a:endParaRPr lang="en-US" sz="1300" dirty="0"/>
          </a:p>
        </p:txBody>
      </p:sp>
      <p:sp>
        <p:nvSpPr>
          <p:cNvPr id="25" name="Shape 23"/>
          <p:cNvSpPr/>
          <p:nvPr/>
        </p:nvSpPr>
        <p:spPr>
          <a:xfrm>
            <a:off x="5294376" y="3108960"/>
            <a:ext cx="548640" cy="548640"/>
          </a:xfrm>
          <a:prstGeom prst="ellipse">
            <a:avLst>
              <a:gd name="adj" fmla="val 20000"/>
            </a:avLst>
          </a:prstGeom>
          <a:solidFill>
            <a:srgbClr val="263340"/>
          </a:solidFill>
          <a:ln w="12700">
            <a:solidFill>
              <a:srgbClr val="263340">
                <a:alpha val="0"/>
              </a:srgbClr>
            </a:solidFill>
            <a:prstDash val="solid"/>
          </a:ln>
        </p:spPr>
      </p:sp>
      <p:sp>
        <p:nvSpPr>
          <p:cNvPr id="26" name="Text 24"/>
          <p:cNvSpPr txBox="1"/>
          <p:nvPr/>
        </p:nvSpPr>
        <p:spPr>
          <a:xfrm>
            <a:off x="5294376" y="3108960"/>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A11</a:t>
            </a:r>
            <a:endParaRPr lang="en-US" sz="1300" dirty="0"/>
          </a:p>
        </p:txBody>
      </p:sp>
      <p:sp>
        <p:nvSpPr>
          <p:cNvPr id="27" name="Shape 25"/>
          <p:cNvSpPr/>
          <p:nvPr/>
        </p:nvSpPr>
        <p:spPr>
          <a:xfrm>
            <a:off x="6739128" y="3108960"/>
            <a:ext cx="548640" cy="548640"/>
          </a:xfrm>
          <a:prstGeom prst="ellipse">
            <a:avLst>
              <a:gd name="adj" fmla="val 20000"/>
            </a:avLst>
          </a:prstGeom>
          <a:solidFill>
            <a:srgbClr val="148A83"/>
          </a:solidFill>
          <a:ln w="12700">
            <a:solidFill>
              <a:srgbClr val="148A83">
                <a:alpha val="0"/>
              </a:srgbClr>
            </a:solidFill>
            <a:prstDash val="solid"/>
          </a:ln>
        </p:spPr>
      </p:sp>
      <p:sp>
        <p:nvSpPr>
          <p:cNvPr id="28" name="Text 26"/>
          <p:cNvSpPr txBox="1"/>
          <p:nvPr/>
        </p:nvSpPr>
        <p:spPr>
          <a:xfrm>
            <a:off x="6739128" y="3108960"/>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A12</a:t>
            </a:r>
            <a:endParaRPr lang="en-US" sz="1300" dirty="0"/>
          </a:p>
        </p:txBody>
      </p:sp>
      <p:sp>
        <p:nvSpPr>
          <p:cNvPr id="29" name="Shape 27"/>
          <p:cNvSpPr/>
          <p:nvPr/>
        </p:nvSpPr>
        <p:spPr>
          <a:xfrm>
            <a:off x="8183880" y="3108960"/>
            <a:ext cx="548640" cy="548640"/>
          </a:xfrm>
          <a:prstGeom prst="ellipse">
            <a:avLst>
              <a:gd name="adj" fmla="val 20000"/>
            </a:avLst>
          </a:prstGeom>
          <a:solidFill>
            <a:srgbClr val="263340"/>
          </a:solidFill>
          <a:ln w="12700">
            <a:solidFill>
              <a:srgbClr val="263340">
                <a:alpha val="0"/>
              </a:srgbClr>
            </a:solidFill>
            <a:prstDash val="solid"/>
          </a:ln>
        </p:spPr>
      </p:sp>
      <p:sp>
        <p:nvSpPr>
          <p:cNvPr id="30" name="Text 28"/>
          <p:cNvSpPr txBox="1"/>
          <p:nvPr/>
        </p:nvSpPr>
        <p:spPr>
          <a:xfrm>
            <a:off x="8183880" y="3108960"/>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A13</a:t>
            </a:r>
            <a:endParaRPr lang="en-US" sz="1300" dirty="0"/>
          </a:p>
        </p:txBody>
      </p:sp>
      <p:sp>
        <p:nvSpPr>
          <p:cNvPr id="31" name="Shape 29"/>
          <p:cNvSpPr/>
          <p:nvPr/>
        </p:nvSpPr>
        <p:spPr>
          <a:xfrm>
            <a:off x="9628632" y="3108960"/>
            <a:ext cx="548640" cy="548640"/>
          </a:xfrm>
          <a:prstGeom prst="ellipse">
            <a:avLst>
              <a:gd name="adj" fmla="val 20000"/>
            </a:avLst>
          </a:prstGeom>
          <a:solidFill>
            <a:srgbClr val="148A83"/>
          </a:solidFill>
          <a:ln w="12700">
            <a:solidFill>
              <a:srgbClr val="148A83">
                <a:alpha val="0"/>
              </a:srgbClr>
            </a:solidFill>
            <a:prstDash val="solid"/>
          </a:ln>
        </p:spPr>
      </p:sp>
      <p:sp>
        <p:nvSpPr>
          <p:cNvPr id="32" name="Text 30"/>
          <p:cNvSpPr txBox="1"/>
          <p:nvPr/>
        </p:nvSpPr>
        <p:spPr>
          <a:xfrm>
            <a:off x="9628632" y="3108960"/>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A14</a:t>
            </a:r>
            <a:endParaRPr lang="en-US" sz="1300" dirty="0"/>
          </a:p>
        </p:txBody>
      </p:sp>
      <p:sp>
        <p:nvSpPr>
          <p:cNvPr id="33" name="Shape 31"/>
          <p:cNvSpPr/>
          <p:nvPr/>
        </p:nvSpPr>
        <p:spPr>
          <a:xfrm>
            <a:off x="1024128" y="4443984"/>
            <a:ext cx="2606040" cy="1280160"/>
          </a:xfrm>
          <a:prstGeom prst="roundRect">
            <a:avLst>
              <a:gd name="adj" fmla="val 8571"/>
            </a:avLst>
          </a:prstGeom>
          <a:solidFill>
            <a:srgbClr val="FFFFFF"/>
          </a:solidFill>
          <a:ln w="12700">
            <a:solidFill>
              <a:srgbClr val="DCE3E8"/>
            </a:solidFill>
            <a:prstDash val="solid"/>
          </a:ln>
        </p:spPr>
      </p:sp>
      <p:sp>
        <p:nvSpPr>
          <p:cNvPr id="34" name="Text 32"/>
          <p:cNvSpPr txBox="1"/>
          <p:nvPr/>
        </p:nvSpPr>
        <p:spPr>
          <a:xfrm>
            <a:off x="1243584" y="4608576"/>
            <a:ext cx="2167128" cy="585216"/>
          </a:xfrm>
          <a:prstGeom prst="rect">
            <a:avLst/>
          </a:prstGeom>
          <a:noFill/>
          <a:ln/>
        </p:spPr>
        <p:txBody>
          <a:bodyPr wrap="square" lIns="0" tIns="0" rIns="0" bIns="0" rtlCol="0" anchor="ctr">
            <a:normAutofit/>
          </a:bodyPr>
          <a:lstStyle/>
          <a:p>
            <a:pPr algn="l" indent="0" marL="0">
              <a:buNone/>
            </a:pPr>
            <a:r>
              <a:rPr lang="en-US" sz="3400" b="1" dirty="0">
                <a:solidFill>
                  <a:srgbClr val="148A83"/>
                </a:solidFill>
                <a:latin typeface="Cambria" pitchFamily="34" charset="0"/>
                <a:ea typeface="Cambria" pitchFamily="34" charset="-122"/>
                <a:cs typeface="Cambria" pitchFamily="34" charset="-120"/>
              </a:rPr>
              <a:t>15 / 15</a:t>
            </a:r>
            <a:endParaRPr lang="en-US" sz="3400" dirty="0"/>
          </a:p>
        </p:txBody>
      </p:sp>
      <p:sp>
        <p:nvSpPr>
          <p:cNvPr id="35" name="Text 33"/>
          <p:cNvSpPr txBox="1"/>
          <p:nvPr/>
        </p:nvSpPr>
        <p:spPr>
          <a:xfrm>
            <a:off x="1243584" y="5285232"/>
            <a:ext cx="2167128"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test cases passed</a:t>
            </a:r>
            <a:endParaRPr lang="en-US" sz="1500" dirty="0"/>
          </a:p>
        </p:txBody>
      </p:sp>
      <p:sp>
        <p:nvSpPr>
          <p:cNvPr id="36" name="Text 34"/>
          <p:cNvSpPr txBox="1"/>
          <p:nvPr/>
        </p:nvSpPr>
        <p:spPr>
          <a:xfrm>
            <a:off x="1243584" y="5266944"/>
            <a:ext cx="2167128"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including one legitimate control</a:t>
            </a:r>
            <a:endParaRPr lang="en-US" sz="1000" dirty="0"/>
          </a:p>
        </p:txBody>
      </p:sp>
      <p:sp>
        <p:nvSpPr>
          <p:cNvPr id="37" name="Shape 35"/>
          <p:cNvSpPr/>
          <p:nvPr/>
        </p:nvSpPr>
        <p:spPr>
          <a:xfrm>
            <a:off x="4114800" y="4489704"/>
            <a:ext cx="6967728" cy="1207008"/>
          </a:xfrm>
          <a:prstGeom prst="roundRect">
            <a:avLst>
              <a:gd name="adj" fmla="val 9091"/>
            </a:avLst>
          </a:prstGeom>
          <a:solidFill>
            <a:srgbClr val="F8EBD1"/>
          </a:solidFill>
          <a:ln w="12700">
            <a:solidFill>
              <a:srgbClr val="F8EBD1">
                <a:alpha val="0"/>
              </a:srgbClr>
            </a:solidFill>
            <a:prstDash val="solid"/>
          </a:ln>
        </p:spPr>
      </p:sp>
      <p:sp>
        <p:nvSpPr>
          <p:cNvPr id="38" name="Text 36"/>
          <p:cNvSpPr txBox="1"/>
          <p:nvPr/>
        </p:nvSpPr>
        <p:spPr>
          <a:xfrm>
            <a:off x="4462272" y="4718304"/>
            <a:ext cx="6217920" cy="320040"/>
          </a:xfrm>
          <a:prstGeom prst="rect">
            <a:avLst/>
          </a:prstGeom>
          <a:noFill/>
          <a:ln/>
        </p:spPr>
        <p:txBody>
          <a:bodyPr wrap="square" lIns="0" tIns="0" rIns="0" bIns="0" rtlCol="0" anchor="ctr">
            <a:normAutofit/>
          </a:bodyPr>
          <a:lstStyle/>
          <a:p>
            <a:pPr algn="ctr" indent="0" marL="0">
              <a:buNone/>
            </a:pPr>
            <a:r>
              <a:rPr lang="en-US" sz="1900" b="1" dirty="0">
                <a:solidFill>
                  <a:srgbClr val="17212B"/>
                </a:solidFill>
                <a:latin typeface="Calibri" pitchFamily="34" charset="0"/>
                <a:ea typeface="Calibri" pitchFamily="34" charset="-122"/>
                <a:cs typeface="Calibri" pitchFamily="34" charset="-120"/>
              </a:rPr>
              <a:t>Controlled Deny tests are not live enforcement.</a:t>
            </a:r>
            <a:endParaRPr lang="en-US" sz="1900" dirty="0"/>
          </a:p>
        </p:txBody>
      </p:sp>
      <p:sp>
        <p:nvSpPr>
          <p:cNvPr id="39" name="Text 37"/>
          <p:cNvSpPr txBox="1"/>
          <p:nvPr/>
        </p:nvSpPr>
        <p:spPr>
          <a:xfrm>
            <a:off x="4462272" y="5138928"/>
            <a:ext cx="6217920" cy="301752"/>
          </a:xfrm>
          <a:prstGeom prst="rect">
            <a:avLst/>
          </a:prstGeom>
          <a:noFill/>
          <a:ln/>
        </p:spPr>
        <p:txBody>
          <a:bodyPr wrap="square" lIns="0" tIns="0" rIns="0" bIns="0" rtlCol="0" anchor="ctr">
            <a:normAutofit/>
          </a:bodyPr>
          <a:lstStyle/>
          <a:p>
            <a:pPr algn="ctr" indent="0" marL="0">
              <a:buNone/>
            </a:pPr>
            <a:r>
              <a:rPr lang="en-US" sz="1300" dirty="0">
                <a:solidFill>
                  <a:srgbClr val="536170"/>
                </a:solidFill>
                <a:latin typeface="Calibri" pitchFamily="34" charset="0"/>
                <a:ea typeface="Calibri" pitchFamily="34" charset="-122"/>
                <a:cs typeface="Calibri" pitchFamily="34" charset="-120"/>
              </a:rPr>
              <a:t>The live image policy remains in Audit while Kyverno reliability gates are unresolved.</a:t>
            </a:r>
            <a:endParaRPr lang="en-US" sz="13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E3 + E5 · PROGRESSIVE DELIVERY</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Faulty releases stop early; healthy releases continue</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Real signed builds moved through GitOps and Argo Rollouts; the app-only batch used no owner merge.</a:t>
            </a:r>
            <a:endParaRPr lang="en-US" sz="1400" dirty="0"/>
          </a:p>
        </p:txBody>
      </p:sp>
      <p:sp>
        <p:nvSpPr>
          <p:cNvPr id="5" name="Shape 3"/>
          <p:cNvSpPr/>
          <p:nvPr/>
        </p:nvSpPr>
        <p:spPr>
          <a:xfrm>
            <a:off x="822960" y="2029968"/>
            <a:ext cx="2423160" cy="1965960"/>
          </a:xfrm>
          <a:prstGeom prst="roundRect">
            <a:avLst>
              <a:gd name="adj" fmla="val 5581"/>
            </a:avLst>
          </a:prstGeom>
          <a:solidFill>
            <a:srgbClr val="FFFFFF"/>
          </a:solidFill>
          <a:ln w="12700">
            <a:solidFill>
              <a:srgbClr val="DCE3E8"/>
            </a:solidFill>
            <a:prstDash val="solid"/>
          </a:ln>
        </p:spPr>
      </p:sp>
      <p:sp>
        <p:nvSpPr>
          <p:cNvPr id="6" name="Text 4"/>
          <p:cNvSpPr txBox="1"/>
          <p:nvPr/>
        </p:nvSpPr>
        <p:spPr>
          <a:xfrm>
            <a:off x="1042416" y="2194560"/>
            <a:ext cx="1984248" cy="585216"/>
          </a:xfrm>
          <a:prstGeom prst="rect">
            <a:avLst/>
          </a:prstGeom>
          <a:noFill/>
          <a:ln/>
        </p:spPr>
        <p:txBody>
          <a:bodyPr wrap="square" lIns="0" tIns="0" rIns="0" bIns="0" rtlCol="0" anchor="ctr">
            <a:normAutofit/>
          </a:bodyPr>
          <a:lstStyle/>
          <a:p>
            <a:pPr algn="l" indent="0" marL="0">
              <a:buNone/>
            </a:pPr>
            <a:r>
              <a:rPr lang="en-US" sz="3400" b="1" dirty="0">
                <a:solidFill>
                  <a:srgbClr val="D96960"/>
                </a:solidFill>
                <a:latin typeface="Cambria" pitchFamily="34" charset="0"/>
                <a:ea typeface="Cambria" pitchFamily="34" charset="-122"/>
                <a:cs typeface="Cambria" pitchFamily="34" charset="-120"/>
              </a:rPr>
              <a:t>4 / 4</a:t>
            </a:r>
            <a:endParaRPr lang="en-US" sz="3400" dirty="0"/>
          </a:p>
        </p:txBody>
      </p:sp>
      <p:sp>
        <p:nvSpPr>
          <p:cNvPr id="7" name="Text 5"/>
          <p:cNvSpPr txBox="1"/>
          <p:nvPr/>
        </p:nvSpPr>
        <p:spPr>
          <a:xfrm>
            <a:off x="1042416" y="2871216"/>
            <a:ext cx="1984248"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app-only faults aborted</a:t>
            </a:r>
            <a:endParaRPr lang="en-US" sz="1500" dirty="0"/>
          </a:p>
        </p:txBody>
      </p:sp>
      <p:sp>
        <p:nvSpPr>
          <p:cNvPr id="8" name="Text 6"/>
          <p:cNvSpPr txBox="1"/>
          <p:nvPr/>
        </p:nvSpPr>
        <p:spPr>
          <a:xfrm>
            <a:off x="1042416" y="3538728"/>
            <a:ext cx="1984248"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all on the success-rate check</a:t>
            </a:r>
            <a:endParaRPr lang="en-US" sz="1000" dirty="0"/>
          </a:p>
        </p:txBody>
      </p:sp>
      <p:sp>
        <p:nvSpPr>
          <p:cNvPr id="9" name="Shape 7"/>
          <p:cNvSpPr/>
          <p:nvPr/>
        </p:nvSpPr>
        <p:spPr>
          <a:xfrm>
            <a:off x="3493008" y="2029968"/>
            <a:ext cx="2423160" cy="1965960"/>
          </a:xfrm>
          <a:prstGeom prst="roundRect">
            <a:avLst>
              <a:gd name="adj" fmla="val 5581"/>
            </a:avLst>
          </a:prstGeom>
          <a:solidFill>
            <a:srgbClr val="FFFFFF"/>
          </a:solidFill>
          <a:ln w="12700">
            <a:solidFill>
              <a:srgbClr val="DCE3E8"/>
            </a:solidFill>
            <a:prstDash val="solid"/>
          </a:ln>
        </p:spPr>
      </p:sp>
      <p:sp>
        <p:nvSpPr>
          <p:cNvPr id="10" name="Text 8"/>
          <p:cNvSpPr txBox="1"/>
          <p:nvPr/>
        </p:nvSpPr>
        <p:spPr>
          <a:xfrm>
            <a:off x="3712464" y="2194560"/>
            <a:ext cx="1984248" cy="585216"/>
          </a:xfrm>
          <a:prstGeom prst="rect">
            <a:avLst/>
          </a:prstGeom>
          <a:noFill/>
          <a:ln/>
        </p:spPr>
        <p:txBody>
          <a:bodyPr wrap="square" lIns="0" tIns="0" rIns="0" bIns="0" rtlCol="0" anchor="ctr">
            <a:normAutofit/>
          </a:bodyPr>
          <a:lstStyle/>
          <a:p>
            <a:pPr algn="l" indent="0" marL="0">
              <a:buNone/>
            </a:pPr>
            <a:r>
              <a:rPr lang="en-US" sz="3400" b="1" dirty="0">
                <a:solidFill>
                  <a:srgbClr val="D96960"/>
                </a:solidFill>
                <a:latin typeface="Cambria" pitchFamily="34" charset="0"/>
                <a:ea typeface="Cambria" pitchFamily="34" charset="-122"/>
                <a:cs typeface="Cambria" pitchFamily="34" charset="-120"/>
              </a:rPr>
              <a:t>147.6 s</a:t>
            </a:r>
            <a:endParaRPr lang="en-US" sz="3400" dirty="0"/>
          </a:p>
        </p:txBody>
      </p:sp>
      <p:sp>
        <p:nvSpPr>
          <p:cNvPr id="11" name="Text 9"/>
          <p:cNvSpPr txBox="1"/>
          <p:nvPr/>
        </p:nvSpPr>
        <p:spPr>
          <a:xfrm>
            <a:off x="3712464" y="2871216"/>
            <a:ext cx="1984248"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median abort time</a:t>
            </a:r>
            <a:endParaRPr lang="en-US" sz="1500" dirty="0"/>
          </a:p>
        </p:txBody>
      </p:sp>
      <p:sp>
        <p:nvSpPr>
          <p:cNvPr id="12" name="Text 10"/>
          <p:cNvSpPr txBox="1"/>
          <p:nvPr/>
        </p:nvSpPr>
        <p:spPr>
          <a:xfrm>
            <a:off x="3712464" y="3538728"/>
            <a:ext cx="1984248"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range: 145.4–149.6 s</a:t>
            </a:r>
            <a:endParaRPr lang="en-US" sz="1000" dirty="0"/>
          </a:p>
        </p:txBody>
      </p:sp>
      <p:sp>
        <p:nvSpPr>
          <p:cNvPr id="13" name="Shape 11"/>
          <p:cNvSpPr/>
          <p:nvPr/>
        </p:nvSpPr>
        <p:spPr>
          <a:xfrm>
            <a:off x="6163056" y="2029968"/>
            <a:ext cx="2423160" cy="1965960"/>
          </a:xfrm>
          <a:prstGeom prst="roundRect">
            <a:avLst>
              <a:gd name="adj" fmla="val 5581"/>
            </a:avLst>
          </a:prstGeom>
          <a:solidFill>
            <a:srgbClr val="FFFFFF"/>
          </a:solidFill>
          <a:ln w="12700">
            <a:solidFill>
              <a:srgbClr val="DCE3E8"/>
            </a:solidFill>
            <a:prstDash val="solid"/>
          </a:ln>
        </p:spPr>
      </p:sp>
      <p:sp>
        <p:nvSpPr>
          <p:cNvPr id="14" name="Text 12"/>
          <p:cNvSpPr txBox="1"/>
          <p:nvPr/>
        </p:nvSpPr>
        <p:spPr>
          <a:xfrm>
            <a:off x="6382512" y="2194560"/>
            <a:ext cx="1984248" cy="585216"/>
          </a:xfrm>
          <a:prstGeom prst="rect">
            <a:avLst/>
          </a:prstGeom>
          <a:noFill/>
          <a:ln/>
        </p:spPr>
        <p:txBody>
          <a:bodyPr wrap="square" lIns="0" tIns="0" rIns="0" bIns="0" rtlCol="0" anchor="ctr">
            <a:normAutofit/>
          </a:bodyPr>
          <a:lstStyle/>
          <a:p>
            <a:pPr algn="l" indent="0" marL="0">
              <a:buNone/>
            </a:pPr>
            <a:r>
              <a:rPr lang="en-US" sz="3400" b="1" dirty="0">
                <a:solidFill>
                  <a:srgbClr val="148A83"/>
                </a:solidFill>
                <a:latin typeface="Cambria" pitchFamily="34" charset="0"/>
                <a:ea typeface="Cambria" pitchFamily="34" charset="-122"/>
                <a:cs typeface="Cambria" pitchFamily="34" charset="-120"/>
              </a:rPr>
              <a:t>12 / 12</a:t>
            </a:r>
            <a:endParaRPr lang="en-US" sz="3400" dirty="0"/>
          </a:p>
        </p:txBody>
      </p:sp>
      <p:sp>
        <p:nvSpPr>
          <p:cNvPr id="15" name="Text 13"/>
          <p:cNvSpPr txBox="1"/>
          <p:nvPr/>
        </p:nvSpPr>
        <p:spPr>
          <a:xfrm>
            <a:off x="6382512" y="2871216"/>
            <a:ext cx="1984248"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healthy canaries promoted</a:t>
            </a:r>
            <a:endParaRPr lang="en-US" sz="1500" dirty="0"/>
          </a:p>
        </p:txBody>
      </p:sp>
      <p:sp>
        <p:nvSpPr>
          <p:cNvPr id="16" name="Text 14"/>
          <p:cNvSpPr txBox="1"/>
          <p:nvPr/>
        </p:nvSpPr>
        <p:spPr>
          <a:xfrm>
            <a:off x="6382512" y="3538728"/>
            <a:ext cx="1984248"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app-only batch</a:t>
            </a:r>
            <a:endParaRPr lang="en-US" sz="1000" dirty="0"/>
          </a:p>
        </p:txBody>
      </p:sp>
      <p:sp>
        <p:nvSpPr>
          <p:cNvPr id="17" name="Shape 15"/>
          <p:cNvSpPr/>
          <p:nvPr/>
        </p:nvSpPr>
        <p:spPr>
          <a:xfrm>
            <a:off x="8833104" y="2029968"/>
            <a:ext cx="2423160" cy="1965960"/>
          </a:xfrm>
          <a:prstGeom prst="roundRect">
            <a:avLst>
              <a:gd name="adj" fmla="val 5581"/>
            </a:avLst>
          </a:prstGeom>
          <a:solidFill>
            <a:srgbClr val="FFFFFF"/>
          </a:solidFill>
          <a:ln w="12700">
            <a:solidFill>
              <a:srgbClr val="DCE3E8"/>
            </a:solidFill>
            <a:prstDash val="solid"/>
          </a:ln>
        </p:spPr>
      </p:sp>
      <p:sp>
        <p:nvSpPr>
          <p:cNvPr id="18" name="Text 16"/>
          <p:cNvSpPr txBox="1"/>
          <p:nvPr/>
        </p:nvSpPr>
        <p:spPr>
          <a:xfrm>
            <a:off x="9052560" y="2194560"/>
            <a:ext cx="1984248" cy="585216"/>
          </a:xfrm>
          <a:prstGeom prst="rect">
            <a:avLst/>
          </a:prstGeom>
          <a:noFill/>
          <a:ln/>
        </p:spPr>
        <p:txBody>
          <a:bodyPr wrap="square" lIns="0" tIns="0" rIns="0" bIns="0" rtlCol="0" anchor="ctr">
            <a:normAutofit/>
          </a:bodyPr>
          <a:lstStyle/>
          <a:p>
            <a:pPr algn="l" indent="0" marL="0">
              <a:buNone/>
            </a:pPr>
            <a:r>
              <a:rPr lang="en-US" sz="3400" b="1" dirty="0">
                <a:solidFill>
                  <a:srgbClr val="E7AD4B"/>
                </a:solidFill>
                <a:latin typeface="Cambria" pitchFamily="34" charset="0"/>
                <a:ea typeface="Cambria" pitchFamily="34" charset="-122"/>
                <a:cs typeface="Cambria" pitchFamily="34" charset="-120"/>
              </a:rPr>
              <a:t>0.39%</a:t>
            </a:r>
            <a:endParaRPr lang="en-US" sz="3400" dirty="0"/>
          </a:p>
        </p:txBody>
      </p:sp>
      <p:sp>
        <p:nvSpPr>
          <p:cNvPr id="19" name="Text 17"/>
          <p:cNvSpPr txBox="1"/>
          <p:nvPr/>
        </p:nvSpPr>
        <p:spPr>
          <a:xfrm>
            <a:off x="9052560" y="2871216"/>
            <a:ext cx="1984248"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median error share</a:t>
            </a:r>
            <a:endParaRPr lang="en-US" sz="1500" dirty="0"/>
          </a:p>
        </p:txBody>
      </p:sp>
      <p:sp>
        <p:nvSpPr>
          <p:cNvPr id="20" name="Text 18"/>
          <p:cNvSpPr txBox="1"/>
          <p:nvPr/>
        </p:nvSpPr>
        <p:spPr>
          <a:xfrm>
            <a:off x="9052560" y="3538728"/>
            <a:ext cx="1984248"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injected-fault request share</a:t>
            </a:r>
            <a:endParaRPr lang="en-US" sz="1000" dirty="0"/>
          </a:p>
        </p:txBody>
      </p:sp>
      <p:sp>
        <p:nvSpPr>
          <p:cNvPr id="21" name="Shape 19"/>
          <p:cNvSpPr/>
          <p:nvPr/>
        </p:nvSpPr>
        <p:spPr>
          <a:xfrm>
            <a:off x="1207008" y="4773168"/>
            <a:ext cx="475488" cy="475488"/>
          </a:xfrm>
          <a:prstGeom prst="ellipse">
            <a:avLst>
              <a:gd name="adj" fmla="val 23077"/>
            </a:avLst>
          </a:prstGeom>
          <a:solidFill>
            <a:srgbClr val="263340"/>
          </a:solidFill>
          <a:ln w="12700">
            <a:solidFill>
              <a:srgbClr val="263340">
                <a:alpha val="0"/>
              </a:srgbClr>
            </a:solidFill>
            <a:prstDash val="solid"/>
          </a:ln>
        </p:spPr>
      </p:sp>
      <p:sp>
        <p:nvSpPr>
          <p:cNvPr id="22" name="Text 20"/>
          <p:cNvSpPr txBox="1"/>
          <p:nvPr/>
        </p:nvSpPr>
        <p:spPr>
          <a:xfrm>
            <a:off x="1207008" y="4773168"/>
            <a:ext cx="475488" cy="47548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3" name="Text 21"/>
          <p:cNvSpPr txBox="1"/>
          <p:nvPr/>
        </p:nvSpPr>
        <p:spPr>
          <a:xfrm>
            <a:off x="886968" y="5413248"/>
            <a:ext cx="1234440" cy="292608"/>
          </a:xfrm>
          <a:prstGeom prst="rect">
            <a:avLst/>
          </a:prstGeom>
          <a:noFill/>
          <a:ln/>
        </p:spPr>
        <p:txBody>
          <a:bodyPr wrap="square" lIns="0" tIns="0" rIns="0" bIns="0" rtlCol="0" anchor="ctr">
            <a:normAutofit/>
          </a:bodyPr>
          <a:lstStyle/>
          <a:p>
            <a:pPr algn="ctr" indent="0" marL="0">
              <a:buNone/>
            </a:pPr>
            <a:r>
              <a:rPr lang="en-US" sz="1300" b="1" dirty="0">
                <a:solidFill>
                  <a:srgbClr val="17212B"/>
                </a:solidFill>
                <a:latin typeface="Calibri" pitchFamily="34" charset="0"/>
                <a:ea typeface="Calibri" pitchFamily="34" charset="-122"/>
                <a:cs typeface="Calibri" pitchFamily="34" charset="-120"/>
              </a:rPr>
              <a:t>New digest</a:t>
            </a:r>
            <a:endParaRPr lang="en-US" sz="1300" dirty="0"/>
          </a:p>
        </p:txBody>
      </p:sp>
      <p:sp>
        <p:nvSpPr>
          <p:cNvPr id="24" name="Shape 22"/>
          <p:cNvSpPr/>
          <p:nvPr/>
        </p:nvSpPr>
        <p:spPr>
          <a:xfrm>
            <a:off x="1709928" y="5010912"/>
            <a:ext cx="2002536" cy="0"/>
          </a:xfrm>
          <a:prstGeom prst="line">
            <a:avLst/>
          </a:prstGeom>
          <a:noFill/>
          <a:ln w="22860">
            <a:solidFill>
              <a:srgbClr val="536170"/>
            </a:solidFill>
            <a:prstDash val="solid"/>
            <a:tailEnd type="triangle"/>
          </a:ln>
        </p:spPr>
      </p:sp>
      <p:sp>
        <p:nvSpPr>
          <p:cNvPr id="25" name="Shape 23"/>
          <p:cNvSpPr/>
          <p:nvPr/>
        </p:nvSpPr>
        <p:spPr>
          <a:xfrm>
            <a:off x="3785616" y="4773168"/>
            <a:ext cx="475488" cy="475488"/>
          </a:xfrm>
          <a:prstGeom prst="ellipse">
            <a:avLst>
              <a:gd name="adj" fmla="val 23077"/>
            </a:avLst>
          </a:prstGeom>
          <a:solidFill>
            <a:srgbClr val="263340"/>
          </a:solidFill>
          <a:ln w="12700">
            <a:solidFill>
              <a:srgbClr val="263340">
                <a:alpha val="0"/>
              </a:srgbClr>
            </a:solidFill>
            <a:prstDash val="solid"/>
          </a:ln>
        </p:spPr>
      </p:sp>
      <p:sp>
        <p:nvSpPr>
          <p:cNvPr id="26" name="Text 24"/>
          <p:cNvSpPr txBox="1"/>
          <p:nvPr/>
        </p:nvSpPr>
        <p:spPr>
          <a:xfrm>
            <a:off x="3785616" y="4773168"/>
            <a:ext cx="475488" cy="47548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7" name="Text 25"/>
          <p:cNvSpPr txBox="1"/>
          <p:nvPr/>
        </p:nvSpPr>
        <p:spPr>
          <a:xfrm>
            <a:off x="3465576" y="5413248"/>
            <a:ext cx="1234440" cy="292608"/>
          </a:xfrm>
          <a:prstGeom prst="rect">
            <a:avLst/>
          </a:prstGeom>
          <a:noFill/>
          <a:ln/>
        </p:spPr>
        <p:txBody>
          <a:bodyPr wrap="square" lIns="0" tIns="0" rIns="0" bIns="0" rtlCol="0" anchor="ctr">
            <a:normAutofit/>
          </a:bodyPr>
          <a:lstStyle/>
          <a:p>
            <a:pPr algn="ctr" indent="0" marL="0">
              <a:buNone/>
            </a:pPr>
            <a:r>
              <a:rPr lang="en-US" sz="1300" b="1" dirty="0">
                <a:solidFill>
                  <a:srgbClr val="17212B"/>
                </a:solidFill>
                <a:latin typeface="Calibri" pitchFamily="34" charset="0"/>
                <a:ea typeface="Calibri" pitchFamily="34" charset="-122"/>
                <a:cs typeface="Calibri" pitchFamily="34" charset="-120"/>
              </a:rPr>
              <a:t>5% canary</a:t>
            </a:r>
            <a:endParaRPr lang="en-US" sz="1300" dirty="0"/>
          </a:p>
        </p:txBody>
      </p:sp>
      <p:sp>
        <p:nvSpPr>
          <p:cNvPr id="28" name="Shape 26"/>
          <p:cNvSpPr/>
          <p:nvPr/>
        </p:nvSpPr>
        <p:spPr>
          <a:xfrm>
            <a:off x="4288536" y="5010912"/>
            <a:ext cx="2130552" cy="0"/>
          </a:xfrm>
          <a:prstGeom prst="line">
            <a:avLst/>
          </a:prstGeom>
          <a:noFill/>
          <a:ln w="22860">
            <a:solidFill>
              <a:srgbClr val="536170"/>
            </a:solidFill>
            <a:prstDash val="solid"/>
            <a:tailEnd type="triangle"/>
          </a:ln>
        </p:spPr>
      </p:sp>
      <p:sp>
        <p:nvSpPr>
          <p:cNvPr id="29" name="Shape 27"/>
          <p:cNvSpPr/>
          <p:nvPr/>
        </p:nvSpPr>
        <p:spPr>
          <a:xfrm>
            <a:off x="6492240" y="4773168"/>
            <a:ext cx="475488" cy="475488"/>
          </a:xfrm>
          <a:prstGeom prst="ellipse">
            <a:avLst>
              <a:gd name="adj" fmla="val 23077"/>
            </a:avLst>
          </a:prstGeom>
          <a:solidFill>
            <a:srgbClr val="D96960"/>
          </a:solidFill>
          <a:ln w="12700">
            <a:solidFill>
              <a:srgbClr val="D96960">
                <a:alpha val="0"/>
              </a:srgbClr>
            </a:solidFill>
            <a:prstDash val="solid"/>
          </a:ln>
        </p:spPr>
      </p:sp>
      <p:sp>
        <p:nvSpPr>
          <p:cNvPr id="30" name="Text 28"/>
          <p:cNvSpPr txBox="1"/>
          <p:nvPr/>
        </p:nvSpPr>
        <p:spPr>
          <a:xfrm>
            <a:off x="6492240" y="4773168"/>
            <a:ext cx="475488" cy="47548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1" name="Text 29"/>
          <p:cNvSpPr txBox="1"/>
          <p:nvPr/>
        </p:nvSpPr>
        <p:spPr>
          <a:xfrm>
            <a:off x="6172200" y="5413248"/>
            <a:ext cx="1234440" cy="292608"/>
          </a:xfrm>
          <a:prstGeom prst="rect">
            <a:avLst/>
          </a:prstGeom>
          <a:noFill/>
          <a:ln/>
        </p:spPr>
        <p:txBody>
          <a:bodyPr wrap="square" lIns="0" tIns="0" rIns="0" bIns="0" rtlCol="0" anchor="ctr">
            <a:normAutofit/>
          </a:bodyPr>
          <a:lstStyle/>
          <a:p>
            <a:pPr algn="ctr" indent="0" marL="0">
              <a:buNone/>
            </a:pPr>
            <a:r>
              <a:rPr lang="en-US" sz="1300" b="1" dirty="0">
                <a:solidFill>
                  <a:srgbClr val="17212B"/>
                </a:solidFill>
                <a:latin typeface="Calibri" pitchFamily="34" charset="0"/>
                <a:ea typeface="Calibri" pitchFamily="34" charset="-122"/>
                <a:cs typeface="Calibri" pitchFamily="34" charset="-120"/>
              </a:rPr>
              <a:t>Analysis fails</a:t>
            </a:r>
            <a:endParaRPr lang="en-US" sz="1300" dirty="0"/>
          </a:p>
        </p:txBody>
      </p:sp>
      <p:sp>
        <p:nvSpPr>
          <p:cNvPr id="32" name="Shape 30"/>
          <p:cNvSpPr/>
          <p:nvPr/>
        </p:nvSpPr>
        <p:spPr>
          <a:xfrm>
            <a:off x="6995160" y="5010912"/>
            <a:ext cx="2167128" cy="0"/>
          </a:xfrm>
          <a:prstGeom prst="line">
            <a:avLst/>
          </a:prstGeom>
          <a:noFill/>
          <a:ln w="22860">
            <a:solidFill>
              <a:srgbClr val="536170"/>
            </a:solidFill>
            <a:prstDash val="solid"/>
            <a:tailEnd type="triangle"/>
          </a:ln>
        </p:spPr>
      </p:sp>
      <p:sp>
        <p:nvSpPr>
          <p:cNvPr id="33" name="Shape 31"/>
          <p:cNvSpPr/>
          <p:nvPr/>
        </p:nvSpPr>
        <p:spPr>
          <a:xfrm>
            <a:off x="9235440" y="4773168"/>
            <a:ext cx="475488" cy="475488"/>
          </a:xfrm>
          <a:prstGeom prst="ellipse">
            <a:avLst>
              <a:gd name="adj" fmla="val 23077"/>
            </a:avLst>
          </a:prstGeom>
          <a:solidFill>
            <a:srgbClr val="148A83"/>
          </a:solidFill>
          <a:ln w="12700">
            <a:solidFill>
              <a:srgbClr val="148A83">
                <a:alpha val="0"/>
              </a:srgbClr>
            </a:solidFill>
            <a:prstDash val="solid"/>
          </a:ln>
        </p:spPr>
      </p:sp>
      <p:sp>
        <p:nvSpPr>
          <p:cNvPr id="34" name="Text 32"/>
          <p:cNvSpPr txBox="1"/>
          <p:nvPr/>
        </p:nvSpPr>
        <p:spPr>
          <a:xfrm>
            <a:off x="9235440" y="4773168"/>
            <a:ext cx="475488" cy="47548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5" name="Text 33"/>
          <p:cNvSpPr txBox="1"/>
          <p:nvPr/>
        </p:nvSpPr>
        <p:spPr>
          <a:xfrm>
            <a:off x="8915400" y="5413248"/>
            <a:ext cx="1234440" cy="292608"/>
          </a:xfrm>
          <a:prstGeom prst="rect">
            <a:avLst/>
          </a:prstGeom>
          <a:noFill/>
          <a:ln/>
        </p:spPr>
        <p:txBody>
          <a:bodyPr wrap="square" lIns="0" tIns="0" rIns="0" bIns="0" rtlCol="0" anchor="ctr">
            <a:normAutofit/>
          </a:bodyPr>
          <a:lstStyle/>
          <a:p>
            <a:pPr algn="ctr" indent="0" marL="0">
              <a:buNone/>
            </a:pPr>
            <a:r>
              <a:rPr lang="en-US" sz="1300" b="1" dirty="0">
                <a:solidFill>
                  <a:srgbClr val="17212B"/>
                </a:solidFill>
                <a:latin typeface="Calibri" pitchFamily="34" charset="0"/>
                <a:ea typeface="Calibri" pitchFamily="34" charset="-122"/>
                <a:cs typeface="Calibri" pitchFamily="34" charset="-120"/>
              </a:rPr>
              <a:t>Stable traffic</a:t>
            </a:r>
            <a:endParaRPr lang="en-US" sz="1300" dirty="0"/>
          </a:p>
        </p:txBody>
      </p:sp>
      <p:sp>
        <p:nvSpPr>
          <p:cNvPr id="36" name="Text 34"/>
          <p:cNvSpPr txBox="1"/>
          <p:nvPr/>
        </p:nvSpPr>
        <p:spPr>
          <a:xfrm>
            <a:off x="3081528" y="5916168"/>
            <a:ext cx="6126480" cy="274320"/>
          </a:xfrm>
          <a:prstGeom prst="rect">
            <a:avLst/>
          </a:prstGeom>
          <a:noFill/>
          <a:ln/>
        </p:spPr>
        <p:txBody>
          <a:bodyPr wrap="square" lIns="0" tIns="0" rIns="0" bIns="0" rtlCol="0" anchor="ctr">
            <a:normAutofit/>
          </a:bodyPr>
          <a:lstStyle/>
          <a:p>
            <a:pPr algn="ctr" indent="0" marL="0">
              <a:buNone/>
            </a:pPr>
            <a:r>
              <a:rPr lang="en-US" sz="1300" dirty="0">
                <a:solidFill>
                  <a:srgbClr val="536170"/>
                </a:solidFill>
                <a:latin typeface="Calibri" pitchFamily="34" charset="0"/>
                <a:ea typeface="Calibri" pitchFamily="34" charset="-122"/>
                <a:cs typeface="Calibri" pitchFamily="34" charset="-120"/>
              </a:rPr>
              <a:t>Abort → fixed release promoted: median 756.6 s</a:t>
            </a:r>
            <a:endParaRPr lang="en-US" sz="13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E4 · SELF-SERVICE DATA</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One Database contract spans local and managed backends</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The Crossplane v2 API remains the same; the selected implementation changes by cluster.</a:t>
            </a:r>
            <a:endParaRPr lang="en-US" sz="1400" dirty="0"/>
          </a:p>
        </p:txBody>
      </p:sp>
      <p:sp>
        <p:nvSpPr>
          <p:cNvPr id="5" name="Shape 3"/>
          <p:cNvSpPr/>
          <p:nvPr/>
        </p:nvSpPr>
        <p:spPr>
          <a:xfrm>
            <a:off x="786384" y="1965960"/>
            <a:ext cx="4297680" cy="2523744"/>
          </a:xfrm>
          <a:prstGeom prst="roundRect">
            <a:avLst>
              <a:gd name="adj" fmla="val 4348"/>
            </a:avLst>
          </a:prstGeom>
          <a:solidFill>
            <a:srgbClr val="FFFFFF"/>
          </a:solidFill>
          <a:ln w="12700">
            <a:solidFill>
              <a:srgbClr val="DCE3E8"/>
            </a:solidFill>
            <a:prstDash val="solid"/>
          </a:ln>
        </p:spPr>
      </p:sp>
      <p:sp>
        <p:nvSpPr>
          <p:cNvPr id="6" name="Shape 4"/>
          <p:cNvSpPr/>
          <p:nvPr/>
        </p:nvSpPr>
        <p:spPr>
          <a:xfrm>
            <a:off x="1060704" y="2221992"/>
            <a:ext cx="1078992" cy="310896"/>
          </a:xfrm>
          <a:prstGeom prst="roundRect">
            <a:avLst>
              <a:gd name="adj" fmla="val 35294"/>
            </a:avLst>
          </a:prstGeom>
          <a:solidFill>
            <a:srgbClr val="DDF1EB"/>
          </a:solidFill>
          <a:ln w="12700">
            <a:solidFill>
              <a:srgbClr val="DDF1EB">
                <a:alpha val="0"/>
              </a:srgbClr>
            </a:solidFill>
            <a:prstDash val="solid"/>
          </a:ln>
        </p:spPr>
      </p:sp>
      <p:sp>
        <p:nvSpPr>
          <p:cNvPr id="7" name="Text 5"/>
          <p:cNvSpPr txBox="1"/>
          <p:nvPr/>
        </p:nvSpPr>
        <p:spPr>
          <a:xfrm>
            <a:off x="1152144" y="2231136"/>
            <a:ext cx="896112" cy="274320"/>
          </a:xfrm>
          <a:prstGeom prst="rect">
            <a:avLst/>
          </a:prstGeom>
          <a:noFill/>
          <a:ln/>
        </p:spPr>
        <p:txBody>
          <a:bodyPr wrap="square" lIns="0" tIns="0" rIns="0" bIns="0" rtlCol="0" anchor="ctr">
            <a:normAutofit/>
          </a:bodyPr>
          <a:lstStyle/>
          <a:p>
            <a:pPr algn="ctr" indent="0" marL="0">
              <a:buNone/>
            </a:pPr>
            <a:r>
              <a:rPr lang="en-US" sz="1000" b="1" dirty="0">
                <a:solidFill>
                  <a:srgbClr val="148A83"/>
                </a:solidFill>
                <a:latin typeface="Calibri" pitchFamily="34" charset="0"/>
                <a:ea typeface="Calibri" pitchFamily="34" charset="-122"/>
                <a:cs typeface="Calibri" pitchFamily="34" charset="-120"/>
              </a:rPr>
              <a:t>MEASURED</a:t>
            </a:r>
            <a:endParaRPr lang="en-US" sz="1000" dirty="0"/>
          </a:p>
        </p:txBody>
      </p:sp>
      <p:sp>
        <p:nvSpPr>
          <p:cNvPr id="8" name="Text 6"/>
          <p:cNvSpPr txBox="1"/>
          <p:nvPr/>
        </p:nvSpPr>
        <p:spPr>
          <a:xfrm>
            <a:off x="1060704" y="2697480"/>
            <a:ext cx="3566160" cy="402336"/>
          </a:xfrm>
          <a:prstGeom prst="rect">
            <a:avLst/>
          </a:prstGeom>
          <a:noFill/>
          <a:ln/>
        </p:spPr>
        <p:txBody>
          <a:bodyPr wrap="square" lIns="0" tIns="0" rIns="0" bIns="0" rtlCol="0" anchor="ctr">
            <a:normAutofit/>
          </a:bodyPr>
          <a:lstStyle/>
          <a:p>
            <a:pPr algn="l" indent="0" marL="0">
              <a:buNone/>
            </a:pPr>
            <a:r>
              <a:rPr lang="en-US" sz="2300" b="1" dirty="0">
                <a:solidFill>
                  <a:srgbClr val="17212B"/>
                </a:solidFill>
                <a:latin typeface="Cambria" pitchFamily="34" charset="0"/>
                <a:ea typeface="Cambria" pitchFamily="34" charset="-122"/>
                <a:cs typeface="Cambria" pitchFamily="34" charset="-120"/>
              </a:rPr>
              <a:t>CloudNativePG</a:t>
            </a:r>
            <a:endParaRPr lang="en-US" sz="2300" dirty="0"/>
          </a:p>
        </p:txBody>
      </p:sp>
      <p:sp>
        <p:nvSpPr>
          <p:cNvPr id="9" name="Text 7"/>
          <p:cNvSpPr txBox="1"/>
          <p:nvPr/>
        </p:nvSpPr>
        <p:spPr>
          <a:xfrm>
            <a:off x="1078992" y="3264408"/>
            <a:ext cx="3566160" cy="950976"/>
          </a:xfrm>
          <a:prstGeom prst="rect">
            <a:avLst/>
          </a:prstGeom>
          <a:noFill/>
          <a:ln/>
        </p:spPr>
        <p:txBody>
          <a:bodyPr wrap="square" lIns="0" tIns="0" rIns="0" bIns="0" rtlCol="0" anchor="t">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kind: 804 s cold  ·  21 s warm</a:t>
            </a:r>
            <a:endParaRPr lang="en-US" sz="1400" dirty="0"/>
          </a:p>
          <a:p>
            <a:pPr algn="l" indent="0" marL="0">
              <a:buNone/>
            </a:pPr>
            <a:r>
              <a:rPr lang="en-US" sz="1400" dirty="0">
                <a:solidFill>
                  <a:srgbClr val="536170"/>
                </a:solidFill>
                <a:latin typeface="Calibri" pitchFamily="34" charset="0"/>
                <a:ea typeface="Calibri" pitchFamily="34" charset="-122"/>
                <a:cs typeface="Calibri" pitchFamily="34" charset="-120"/>
              </a:rPr>
              <a:t>AKS: 138 s</a:t>
            </a:r>
            <a:endParaRPr lang="en-US" sz="1400" dirty="0"/>
          </a:p>
          <a:p>
            <a:pPr algn="l" indent="0" marL="0">
              <a:buNone/>
            </a:pPr>
            <a:endParaRPr lang="en-US" sz="1400" dirty="0"/>
          </a:p>
          <a:p>
            <a:pPr algn="l" indent="0" marL="0">
              <a:buNone/>
            </a:pPr>
            <a:r>
              <a:rPr lang="en-US" sz="1400" dirty="0">
                <a:solidFill>
                  <a:srgbClr val="536170"/>
                </a:solidFill>
                <a:latin typeface="Calibri" pitchFamily="34" charset="0"/>
                <a:ea typeface="Calibri" pitchFamily="34" charset="-122"/>
                <a:cs typeface="Calibri" pitchFamily="34" charset="-120"/>
              </a:rPr>
              <a:t>Six connection keys; `psql` connected; wrong password refused.</a:t>
            </a:r>
            <a:endParaRPr lang="en-US" sz="1400" dirty="0"/>
          </a:p>
        </p:txBody>
      </p:sp>
      <p:sp>
        <p:nvSpPr>
          <p:cNvPr id="10" name="Shape 8"/>
          <p:cNvSpPr/>
          <p:nvPr/>
        </p:nvSpPr>
        <p:spPr>
          <a:xfrm>
            <a:off x="5486400" y="1965960"/>
            <a:ext cx="5870448" cy="2523744"/>
          </a:xfrm>
          <a:prstGeom prst="roundRect">
            <a:avLst>
              <a:gd name="adj" fmla="val 4348"/>
            </a:avLst>
          </a:prstGeom>
          <a:solidFill>
            <a:srgbClr val="18212B"/>
          </a:solidFill>
          <a:ln w="12700">
            <a:solidFill>
              <a:srgbClr val="18212B">
                <a:alpha val="0"/>
              </a:srgbClr>
            </a:solidFill>
            <a:prstDash val="solid"/>
          </a:ln>
        </p:spPr>
      </p:sp>
      <p:sp>
        <p:nvSpPr>
          <p:cNvPr id="11" name="Shape 9"/>
          <p:cNvSpPr/>
          <p:nvPr/>
        </p:nvSpPr>
        <p:spPr>
          <a:xfrm>
            <a:off x="5797296" y="2221992"/>
            <a:ext cx="2423160" cy="310896"/>
          </a:xfrm>
          <a:prstGeom prst="roundRect">
            <a:avLst>
              <a:gd name="adj" fmla="val 35294"/>
            </a:avLst>
          </a:prstGeom>
          <a:solidFill>
            <a:srgbClr val="F8EBD1"/>
          </a:solidFill>
          <a:ln w="12700">
            <a:solidFill>
              <a:srgbClr val="F8EBD1">
                <a:alpha val="0"/>
              </a:srgbClr>
            </a:solidFill>
            <a:prstDash val="solid"/>
          </a:ln>
        </p:spPr>
      </p:sp>
      <p:sp>
        <p:nvSpPr>
          <p:cNvPr id="12" name="Text 10"/>
          <p:cNvSpPr txBox="1"/>
          <p:nvPr/>
        </p:nvSpPr>
        <p:spPr>
          <a:xfrm>
            <a:off x="5888736" y="2231136"/>
            <a:ext cx="2240280" cy="274320"/>
          </a:xfrm>
          <a:prstGeom prst="rect">
            <a:avLst/>
          </a:prstGeom>
          <a:noFill/>
          <a:ln/>
        </p:spPr>
        <p:txBody>
          <a:bodyPr wrap="square" lIns="0" tIns="0" rIns="0" bIns="0" rtlCol="0" anchor="ctr">
            <a:normAutofit/>
          </a:bodyPr>
          <a:lstStyle/>
          <a:p>
            <a:pPr algn="ctr" indent="0" marL="0">
              <a:buNone/>
            </a:pPr>
            <a:r>
              <a:rPr lang="en-US" sz="1000" b="1" dirty="0">
                <a:solidFill>
                  <a:srgbClr val="17212B"/>
                </a:solidFill>
                <a:latin typeface="Calibri" pitchFamily="34" charset="0"/>
                <a:ea typeface="Calibri" pitchFamily="34" charset="-122"/>
                <a:cs typeface="Calibri" pitchFamily="34" charset="-120"/>
              </a:rPr>
              <a:t>IMPLEMENTED · LIVE TEST PENDING</a:t>
            </a:r>
            <a:endParaRPr lang="en-US" sz="1000" dirty="0"/>
          </a:p>
        </p:txBody>
      </p:sp>
      <p:sp>
        <p:nvSpPr>
          <p:cNvPr id="13" name="Text 11"/>
          <p:cNvSpPr txBox="1"/>
          <p:nvPr/>
        </p:nvSpPr>
        <p:spPr>
          <a:xfrm>
            <a:off x="5797296" y="2697480"/>
            <a:ext cx="4937760" cy="402336"/>
          </a:xfrm>
          <a:prstGeom prst="rect">
            <a:avLst/>
          </a:prstGeom>
          <a:noFill/>
          <a:ln/>
        </p:spPr>
        <p:txBody>
          <a:bodyPr wrap="square" lIns="0" tIns="0" rIns="0" bIns="0" rtlCol="0" anchor="ctr">
            <a:normAutofit/>
          </a:bodyPr>
          <a:lstStyle/>
          <a:p>
            <a:pPr algn="l" indent="0" marL="0">
              <a:buNone/>
            </a:pPr>
            <a:r>
              <a:rPr lang="en-US" sz="2300" b="1" dirty="0">
                <a:solidFill>
                  <a:srgbClr val="FFFFFF"/>
                </a:solidFill>
                <a:latin typeface="Cambria" pitchFamily="34" charset="0"/>
                <a:ea typeface="Cambria" pitchFamily="34" charset="-122"/>
                <a:cs typeface="Cambria" pitchFamily="34" charset="-120"/>
              </a:rPr>
              <a:t>Azure Flexible Server</a:t>
            </a:r>
            <a:endParaRPr lang="en-US" sz="2300" dirty="0"/>
          </a:p>
        </p:txBody>
      </p:sp>
      <p:sp>
        <p:nvSpPr>
          <p:cNvPr id="14" name="Text 12"/>
          <p:cNvSpPr txBox="1"/>
          <p:nvPr/>
        </p:nvSpPr>
        <p:spPr>
          <a:xfrm>
            <a:off x="5815584" y="3264408"/>
            <a:ext cx="4983480" cy="987552"/>
          </a:xfrm>
          <a:prstGeom prst="rect">
            <a:avLst/>
          </a:prstGeom>
          <a:noFill/>
          <a:ln/>
        </p:spPr>
        <p:txBody>
          <a:bodyPr wrap="square" lIns="0" tIns="0" rIns="0" bIns="0" rtlCol="0" anchor="t">
            <a:normAutofit/>
          </a:bodyPr>
          <a:lstStyle/>
          <a:p>
            <a:pPr algn="l" indent="0" marL="0">
              <a:buNone/>
            </a:pPr>
            <a:r>
              <a:rPr lang="en-US" sz="1400" dirty="0">
                <a:solidFill>
                  <a:srgbClr val="CED8E0"/>
                </a:solidFill>
                <a:latin typeface="Calibri" pitchFamily="34" charset="0"/>
                <a:ea typeface="Calibri" pitchFamily="34" charset="-122"/>
                <a:cs typeface="Calibri" pitchFamily="34" charset="-120"/>
              </a:rPr>
              <a:t>Provider + managed identity + narrow role + one-IP firewall are prepared on review branches.</a:t>
            </a:r>
            <a:endParaRPr lang="en-US" sz="1400" dirty="0"/>
          </a:p>
          <a:p>
            <a:pPr algn="l" indent="0" marL="0">
              <a:buNone/>
            </a:pPr>
            <a:endParaRPr lang="en-US" sz="1400" dirty="0"/>
          </a:p>
          <a:p>
            <a:pPr algn="l" indent="0" marL="0">
              <a:buNone/>
            </a:pPr>
            <a:r>
              <a:rPr lang="en-US" sz="1400" dirty="0">
                <a:solidFill>
                  <a:srgbClr val="CED8E0"/>
                </a:solidFill>
                <a:latin typeface="Calibri" pitchFamily="34" charset="0"/>
                <a:ea typeface="Calibri" pitchFamily="34" charset="-122"/>
                <a:cs typeface="Calibri" pitchFamily="34" charset="-120"/>
              </a:rPr>
              <a:t>Still required: service-pod connection, readiness, delete and full teardown.</a:t>
            </a:r>
            <a:endParaRPr lang="en-US" sz="1400" dirty="0"/>
          </a:p>
        </p:txBody>
      </p:sp>
      <p:sp>
        <p:nvSpPr>
          <p:cNvPr id="15" name="Shape 13"/>
          <p:cNvSpPr/>
          <p:nvPr/>
        </p:nvSpPr>
        <p:spPr>
          <a:xfrm>
            <a:off x="1481328" y="5029200"/>
            <a:ext cx="9144000" cy="640080"/>
          </a:xfrm>
          <a:prstGeom prst="roundRect">
            <a:avLst>
              <a:gd name="adj" fmla="val 17143"/>
            </a:avLst>
          </a:prstGeom>
          <a:solidFill>
            <a:srgbClr val="DDF1EB"/>
          </a:solidFill>
          <a:ln w="12700">
            <a:solidFill>
              <a:srgbClr val="DDF1EB">
                <a:alpha val="0"/>
              </a:srgbClr>
            </a:solidFill>
            <a:prstDash val="solid"/>
          </a:ln>
        </p:spPr>
      </p:sp>
      <p:sp>
        <p:nvSpPr>
          <p:cNvPr id="16" name="Text 14"/>
          <p:cNvSpPr txBox="1"/>
          <p:nvPr/>
        </p:nvSpPr>
        <p:spPr>
          <a:xfrm>
            <a:off x="1828800" y="5184648"/>
            <a:ext cx="8412480" cy="347472"/>
          </a:xfrm>
          <a:prstGeom prst="rect">
            <a:avLst/>
          </a:prstGeom>
          <a:noFill/>
          <a:ln/>
        </p:spPr>
        <p:txBody>
          <a:bodyPr wrap="square" lIns="0" tIns="0" rIns="0" bIns="0" rtlCol="0" anchor="ctr">
            <a:normAutofit/>
          </a:bodyPr>
          <a:lstStyle/>
          <a:p>
            <a:pPr algn="ctr" indent="0" marL="0">
              <a:buNone/>
            </a:pPr>
            <a:r>
              <a:rPr lang="en-US" sz="1800" b="1" dirty="0">
                <a:solidFill>
                  <a:srgbClr val="148A83"/>
                </a:solidFill>
                <a:latin typeface="Calibri" pitchFamily="34" charset="0"/>
                <a:ea typeface="Calibri" pitchFamily="34" charset="-122"/>
                <a:cs typeface="Calibri" pitchFamily="34" charset="-120"/>
              </a:rPr>
              <a:t>Same developer request  →  backend chosen by the cluster overlay</a:t>
            </a:r>
            <a:endParaRPr lang="en-US" sz="18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E5 · DORA MEASURES</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The app-only release batch produced a complete delivery dataset</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Twenty scripted deployments across four services; the batch was designed to include four injected faults.</a:t>
            </a:r>
            <a:endParaRPr lang="en-US" sz="1400" dirty="0"/>
          </a:p>
        </p:txBody>
      </p:sp>
      <p:sp>
        <p:nvSpPr>
          <p:cNvPr id="5" name="Shape 3"/>
          <p:cNvSpPr/>
          <p:nvPr/>
        </p:nvSpPr>
        <p:spPr>
          <a:xfrm>
            <a:off x="822960" y="1965960"/>
            <a:ext cx="2450592" cy="1993392"/>
          </a:xfrm>
          <a:prstGeom prst="roundRect">
            <a:avLst>
              <a:gd name="adj" fmla="val 5505"/>
            </a:avLst>
          </a:prstGeom>
          <a:solidFill>
            <a:srgbClr val="FFFFFF"/>
          </a:solidFill>
          <a:ln w="12700">
            <a:solidFill>
              <a:srgbClr val="DCE3E8"/>
            </a:solidFill>
            <a:prstDash val="solid"/>
          </a:ln>
        </p:spPr>
      </p:sp>
      <p:sp>
        <p:nvSpPr>
          <p:cNvPr id="6" name="Text 4"/>
          <p:cNvSpPr txBox="1"/>
          <p:nvPr/>
        </p:nvSpPr>
        <p:spPr>
          <a:xfrm>
            <a:off x="1042416" y="2130552"/>
            <a:ext cx="2011680" cy="585216"/>
          </a:xfrm>
          <a:prstGeom prst="rect">
            <a:avLst/>
          </a:prstGeom>
          <a:noFill/>
          <a:ln/>
        </p:spPr>
        <p:txBody>
          <a:bodyPr wrap="square" lIns="0" tIns="0" rIns="0" bIns="0" rtlCol="0" anchor="ctr">
            <a:normAutofit/>
          </a:bodyPr>
          <a:lstStyle/>
          <a:p>
            <a:pPr algn="l" indent="0" marL="0">
              <a:buNone/>
            </a:pPr>
            <a:r>
              <a:rPr lang="en-US" sz="3400" b="1" dirty="0">
                <a:solidFill>
                  <a:srgbClr val="148A83"/>
                </a:solidFill>
                <a:latin typeface="Cambria" pitchFamily="34" charset="0"/>
                <a:ea typeface="Cambria" pitchFamily="34" charset="-122"/>
                <a:cs typeface="Cambria" pitchFamily="34" charset="-120"/>
              </a:rPr>
              <a:t>20</a:t>
            </a:r>
            <a:endParaRPr lang="en-US" sz="3400" dirty="0"/>
          </a:p>
        </p:txBody>
      </p:sp>
      <p:sp>
        <p:nvSpPr>
          <p:cNvPr id="7" name="Text 5"/>
          <p:cNvSpPr txBox="1"/>
          <p:nvPr/>
        </p:nvSpPr>
        <p:spPr>
          <a:xfrm>
            <a:off x="1042416" y="2807208"/>
            <a:ext cx="2011680"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deployments</a:t>
            </a:r>
            <a:endParaRPr lang="en-US" sz="1500" dirty="0"/>
          </a:p>
        </p:txBody>
      </p:sp>
      <p:sp>
        <p:nvSpPr>
          <p:cNvPr id="8" name="Text 6"/>
          <p:cNvSpPr txBox="1"/>
          <p:nvPr/>
        </p:nvSpPr>
        <p:spPr>
          <a:xfrm>
            <a:off x="1042416" y="3502152"/>
            <a:ext cx="2011680"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five per service</a:t>
            </a:r>
            <a:endParaRPr lang="en-US" sz="1000" dirty="0"/>
          </a:p>
        </p:txBody>
      </p:sp>
      <p:sp>
        <p:nvSpPr>
          <p:cNvPr id="9" name="Shape 7"/>
          <p:cNvSpPr/>
          <p:nvPr/>
        </p:nvSpPr>
        <p:spPr>
          <a:xfrm>
            <a:off x="3502152" y="1965960"/>
            <a:ext cx="2450592" cy="1993392"/>
          </a:xfrm>
          <a:prstGeom prst="roundRect">
            <a:avLst>
              <a:gd name="adj" fmla="val 5505"/>
            </a:avLst>
          </a:prstGeom>
          <a:solidFill>
            <a:srgbClr val="FFFFFF"/>
          </a:solidFill>
          <a:ln w="12700">
            <a:solidFill>
              <a:srgbClr val="DCE3E8"/>
            </a:solidFill>
            <a:prstDash val="solid"/>
          </a:ln>
        </p:spPr>
      </p:sp>
      <p:sp>
        <p:nvSpPr>
          <p:cNvPr id="10" name="Text 8"/>
          <p:cNvSpPr txBox="1"/>
          <p:nvPr/>
        </p:nvSpPr>
        <p:spPr>
          <a:xfrm>
            <a:off x="3721608" y="2130552"/>
            <a:ext cx="2011680" cy="585216"/>
          </a:xfrm>
          <a:prstGeom prst="rect">
            <a:avLst/>
          </a:prstGeom>
          <a:noFill/>
          <a:ln/>
        </p:spPr>
        <p:txBody>
          <a:bodyPr wrap="square" lIns="0" tIns="0" rIns="0" bIns="0" rtlCol="0" anchor="ctr">
            <a:normAutofit/>
          </a:bodyPr>
          <a:lstStyle/>
          <a:p>
            <a:pPr algn="l" indent="0" marL="0">
              <a:buNone/>
            </a:pPr>
            <a:r>
              <a:rPr lang="en-US" sz="3400" b="1" dirty="0">
                <a:solidFill>
                  <a:srgbClr val="148A83"/>
                </a:solidFill>
                <a:latin typeface="Cambria" pitchFamily="34" charset="0"/>
                <a:ea typeface="Cambria" pitchFamily="34" charset="-122"/>
                <a:cs typeface="Cambria" pitchFamily="34" charset="-120"/>
              </a:rPr>
              <a:t>12.5 min</a:t>
            </a:r>
            <a:endParaRPr lang="en-US" sz="3400" dirty="0"/>
          </a:p>
        </p:txBody>
      </p:sp>
      <p:sp>
        <p:nvSpPr>
          <p:cNvPr id="11" name="Text 9"/>
          <p:cNvSpPr txBox="1"/>
          <p:nvPr/>
        </p:nvSpPr>
        <p:spPr>
          <a:xfrm>
            <a:off x="3721608" y="2807208"/>
            <a:ext cx="2011680"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median lead time</a:t>
            </a:r>
            <a:endParaRPr lang="en-US" sz="1500" dirty="0"/>
          </a:p>
        </p:txBody>
      </p:sp>
      <p:sp>
        <p:nvSpPr>
          <p:cNvPr id="12" name="Text 10"/>
          <p:cNvSpPr txBox="1"/>
          <p:nvPr/>
        </p:nvSpPr>
        <p:spPr>
          <a:xfrm>
            <a:off x="3721608" y="3502152"/>
            <a:ext cx="2011680"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commit to deployment record</a:t>
            </a:r>
            <a:endParaRPr lang="en-US" sz="1000" dirty="0"/>
          </a:p>
        </p:txBody>
      </p:sp>
      <p:sp>
        <p:nvSpPr>
          <p:cNvPr id="13" name="Shape 11"/>
          <p:cNvSpPr/>
          <p:nvPr/>
        </p:nvSpPr>
        <p:spPr>
          <a:xfrm>
            <a:off x="6181344" y="1965960"/>
            <a:ext cx="2450592" cy="1993392"/>
          </a:xfrm>
          <a:prstGeom prst="roundRect">
            <a:avLst>
              <a:gd name="adj" fmla="val 5505"/>
            </a:avLst>
          </a:prstGeom>
          <a:solidFill>
            <a:srgbClr val="FFFFFF"/>
          </a:solidFill>
          <a:ln w="12700">
            <a:solidFill>
              <a:srgbClr val="DCE3E8"/>
            </a:solidFill>
            <a:prstDash val="solid"/>
          </a:ln>
        </p:spPr>
      </p:sp>
      <p:sp>
        <p:nvSpPr>
          <p:cNvPr id="14" name="Text 12"/>
          <p:cNvSpPr txBox="1"/>
          <p:nvPr/>
        </p:nvSpPr>
        <p:spPr>
          <a:xfrm>
            <a:off x="6400800" y="2130552"/>
            <a:ext cx="2011680" cy="585216"/>
          </a:xfrm>
          <a:prstGeom prst="rect">
            <a:avLst/>
          </a:prstGeom>
          <a:noFill/>
          <a:ln/>
        </p:spPr>
        <p:txBody>
          <a:bodyPr wrap="square" lIns="0" tIns="0" rIns="0" bIns="0" rtlCol="0" anchor="ctr">
            <a:normAutofit/>
          </a:bodyPr>
          <a:lstStyle/>
          <a:p>
            <a:pPr algn="l" indent="0" marL="0">
              <a:buNone/>
            </a:pPr>
            <a:r>
              <a:rPr lang="en-US" sz="3400" b="1" dirty="0">
                <a:solidFill>
                  <a:srgbClr val="D96960"/>
                </a:solidFill>
                <a:latin typeface="Cambria" pitchFamily="34" charset="0"/>
                <a:ea typeface="Cambria" pitchFamily="34" charset="-122"/>
                <a:cs typeface="Cambria" pitchFamily="34" charset="-120"/>
              </a:rPr>
              <a:t>12.6 min</a:t>
            </a:r>
            <a:endParaRPr lang="en-US" sz="3400" dirty="0"/>
          </a:p>
        </p:txBody>
      </p:sp>
      <p:sp>
        <p:nvSpPr>
          <p:cNvPr id="15" name="Text 13"/>
          <p:cNvSpPr txBox="1"/>
          <p:nvPr/>
        </p:nvSpPr>
        <p:spPr>
          <a:xfrm>
            <a:off x="6400800" y="2807208"/>
            <a:ext cx="2011680"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median recovery</a:t>
            </a:r>
            <a:endParaRPr lang="en-US" sz="1500" dirty="0"/>
          </a:p>
        </p:txBody>
      </p:sp>
      <p:sp>
        <p:nvSpPr>
          <p:cNvPr id="16" name="Text 14"/>
          <p:cNvSpPr txBox="1"/>
          <p:nvPr/>
        </p:nvSpPr>
        <p:spPr>
          <a:xfrm>
            <a:off x="6400800" y="3502152"/>
            <a:ext cx="2011680"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failure to fixed release</a:t>
            </a:r>
            <a:endParaRPr lang="en-US" sz="1000" dirty="0"/>
          </a:p>
        </p:txBody>
      </p:sp>
      <p:sp>
        <p:nvSpPr>
          <p:cNvPr id="17" name="Shape 15"/>
          <p:cNvSpPr/>
          <p:nvPr/>
        </p:nvSpPr>
        <p:spPr>
          <a:xfrm>
            <a:off x="8860536" y="1965960"/>
            <a:ext cx="2450592" cy="1993392"/>
          </a:xfrm>
          <a:prstGeom prst="roundRect">
            <a:avLst>
              <a:gd name="adj" fmla="val 5505"/>
            </a:avLst>
          </a:prstGeom>
          <a:solidFill>
            <a:srgbClr val="FFFFFF"/>
          </a:solidFill>
          <a:ln w="12700">
            <a:solidFill>
              <a:srgbClr val="DCE3E8"/>
            </a:solidFill>
            <a:prstDash val="solid"/>
          </a:ln>
        </p:spPr>
      </p:sp>
      <p:sp>
        <p:nvSpPr>
          <p:cNvPr id="18" name="Text 16"/>
          <p:cNvSpPr txBox="1"/>
          <p:nvPr/>
        </p:nvSpPr>
        <p:spPr>
          <a:xfrm>
            <a:off x="9079992" y="2130552"/>
            <a:ext cx="2011680" cy="585216"/>
          </a:xfrm>
          <a:prstGeom prst="rect">
            <a:avLst/>
          </a:prstGeom>
          <a:noFill/>
          <a:ln/>
        </p:spPr>
        <p:txBody>
          <a:bodyPr wrap="square" lIns="0" tIns="0" rIns="0" bIns="0" rtlCol="0" anchor="ctr">
            <a:normAutofit/>
          </a:bodyPr>
          <a:lstStyle/>
          <a:p>
            <a:pPr algn="l" indent="0" marL="0">
              <a:buNone/>
            </a:pPr>
            <a:r>
              <a:rPr lang="en-US" sz="3400" b="1" dirty="0">
                <a:solidFill>
                  <a:srgbClr val="E7AD4B"/>
                </a:solidFill>
                <a:latin typeface="Cambria" pitchFamily="34" charset="0"/>
                <a:ea typeface="Cambria" pitchFamily="34" charset="-122"/>
                <a:cs typeface="Cambria" pitchFamily="34" charset="-120"/>
              </a:rPr>
              <a:t>20%</a:t>
            </a:r>
            <a:endParaRPr lang="en-US" sz="3400" dirty="0"/>
          </a:p>
        </p:txBody>
      </p:sp>
      <p:sp>
        <p:nvSpPr>
          <p:cNvPr id="19" name="Text 17"/>
          <p:cNvSpPr txBox="1"/>
          <p:nvPr/>
        </p:nvSpPr>
        <p:spPr>
          <a:xfrm>
            <a:off x="9079992" y="2807208"/>
            <a:ext cx="2011680"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planned failure rate</a:t>
            </a:r>
            <a:endParaRPr lang="en-US" sz="1500" dirty="0"/>
          </a:p>
        </p:txBody>
      </p:sp>
      <p:sp>
        <p:nvSpPr>
          <p:cNvPr id="20" name="Text 18"/>
          <p:cNvSpPr txBox="1"/>
          <p:nvPr/>
        </p:nvSpPr>
        <p:spPr>
          <a:xfrm>
            <a:off x="9079992" y="3502152"/>
            <a:ext cx="2011680"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4 injected faults of 20</a:t>
            </a:r>
            <a:endParaRPr lang="en-US" sz="1000" dirty="0"/>
          </a:p>
        </p:txBody>
      </p:sp>
      <p:sp>
        <p:nvSpPr>
          <p:cNvPr id="21" name="Text 19"/>
          <p:cNvSpPr txBox="1"/>
          <p:nvPr/>
        </p:nvSpPr>
        <p:spPr>
          <a:xfrm>
            <a:off x="1024128" y="4416552"/>
            <a:ext cx="2926080" cy="310896"/>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Median lead by service</a:t>
            </a:r>
            <a:endParaRPr lang="en-US" sz="1700" dirty="0"/>
          </a:p>
        </p:txBody>
      </p:sp>
      <p:sp>
        <p:nvSpPr>
          <p:cNvPr id="22" name="Text 20"/>
          <p:cNvSpPr txBox="1"/>
          <p:nvPr/>
        </p:nvSpPr>
        <p:spPr>
          <a:xfrm>
            <a:off x="1060704" y="4882896"/>
            <a:ext cx="960120" cy="201168"/>
          </a:xfrm>
          <a:prstGeom prst="rect">
            <a:avLst/>
          </a:prstGeom>
          <a:noFill/>
          <a:ln/>
        </p:spPr>
        <p:txBody>
          <a:bodyPr wrap="square" lIns="0" tIns="0" rIns="0" bIns="0" rtlCol="0" anchor="ctr">
            <a:normAutofit/>
          </a:bodyPr>
          <a:lstStyle/>
          <a:p>
            <a:pPr algn="l" indent="0" marL="0">
              <a:buNone/>
            </a:pPr>
            <a:r>
              <a:rPr lang="en-US" sz="1100" dirty="0">
                <a:solidFill>
                  <a:srgbClr val="536170"/>
                </a:solidFill>
                <a:latin typeface="Calibri" pitchFamily="34" charset="0"/>
                <a:ea typeface="Calibri" pitchFamily="34" charset="-122"/>
                <a:cs typeface="Calibri" pitchFamily="34" charset="-120"/>
              </a:rPr>
              <a:t>Books</a:t>
            </a:r>
            <a:endParaRPr lang="en-US" sz="1100" dirty="0"/>
          </a:p>
        </p:txBody>
      </p:sp>
      <p:sp>
        <p:nvSpPr>
          <p:cNvPr id="23" name="Shape 21"/>
          <p:cNvSpPr/>
          <p:nvPr/>
        </p:nvSpPr>
        <p:spPr>
          <a:xfrm>
            <a:off x="2103120" y="4919472"/>
            <a:ext cx="3433267" cy="146304"/>
          </a:xfrm>
          <a:prstGeom prst="roundRect">
            <a:avLst>
              <a:gd name="adj" fmla="val 75000"/>
            </a:avLst>
          </a:prstGeom>
          <a:solidFill>
            <a:srgbClr val="148A83"/>
          </a:solidFill>
          <a:ln w="12700">
            <a:solidFill>
              <a:srgbClr val="148A83">
                <a:alpha val="0"/>
              </a:srgbClr>
            </a:solidFill>
            <a:prstDash val="solid"/>
          </a:ln>
        </p:spPr>
      </p:sp>
      <p:sp>
        <p:nvSpPr>
          <p:cNvPr id="24" name="Text 22"/>
          <p:cNvSpPr txBox="1"/>
          <p:nvPr/>
        </p:nvSpPr>
        <p:spPr>
          <a:xfrm>
            <a:off x="6309360" y="4864608"/>
            <a:ext cx="749808" cy="219456"/>
          </a:xfrm>
          <a:prstGeom prst="rect">
            <a:avLst/>
          </a:prstGeom>
          <a:noFill/>
          <a:ln/>
        </p:spPr>
        <p:txBody>
          <a:bodyPr wrap="square" lIns="0" tIns="0" rIns="0" bIns="0" rtlCol="0" anchor="ctr">
            <a:normAutofit/>
          </a:bodyPr>
          <a:lstStyle/>
          <a:p>
            <a:pPr algn="l" indent="0" marL="0">
              <a:buNone/>
            </a:pPr>
            <a:r>
              <a:rPr lang="en-US" sz="1100" b="1" dirty="0">
                <a:solidFill>
                  <a:srgbClr val="536170"/>
                </a:solidFill>
                <a:latin typeface="Calibri" pitchFamily="34" charset="0"/>
                <a:ea typeface="Calibri" pitchFamily="34" charset="-122"/>
                <a:cs typeface="Calibri" pitchFamily="34" charset="-120"/>
              </a:rPr>
              <a:t>12.8 min</a:t>
            </a:r>
            <a:endParaRPr lang="en-US" sz="1100" dirty="0"/>
          </a:p>
        </p:txBody>
      </p:sp>
      <p:sp>
        <p:nvSpPr>
          <p:cNvPr id="25" name="Text 23"/>
          <p:cNvSpPr txBox="1"/>
          <p:nvPr/>
        </p:nvSpPr>
        <p:spPr>
          <a:xfrm>
            <a:off x="1060704" y="5193792"/>
            <a:ext cx="960120" cy="201168"/>
          </a:xfrm>
          <a:prstGeom prst="rect">
            <a:avLst/>
          </a:prstGeom>
          <a:noFill/>
          <a:ln/>
        </p:spPr>
        <p:txBody>
          <a:bodyPr wrap="square" lIns="0" tIns="0" rIns="0" bIns="0" rtlCol="0" anchor="ctr">
            <a:normAutofit/>
          </a:bodyPr>
          <a:lstStyle/>
          <a:p>
            <a:pPr algn="l" indent="0" marL="0">
              <a:buNone/>
            </a:pPr>
            <a:r>
              <a:rPr lang="en-US" sz="1100" dirty="0">
                <a:solidFill>
                  <a:srgbClr val="536170"/>
                </a:solidFill>
                <a:latin typeface="Calibri" pitchFamily="34" charset="0"/>
                <a:ea typeface="Calibri" pitchFamily="34" charset="-122"/>
                <a:cs typeface="Calibri" pitchFamily="34" charset="-120"/>
              </a:rPr>
              <a:t>Loans</a:t>
            </a:r>
            <a:endParaRPr lang="en-US" sz="1100" dirty="0"/>
          </a:p>
        </p:txBody>
      </p:sp>
      <p:sp>
        <p:nvSpPr>
          <p:cNvPr id="26" name="Shape 24"/>
          <p:cNvSpPr/>
          <p:nvPr/>
        </p:nvSpPr>
        <p:spPr>
          <a:xfrm>
            <a:off x="2103120" y="5230368"/>
            <a:ext cx="3513734" cy="146304"/>
          </a:xfrm>
          <a:prstGeom prst="roundRect">
            <a:avLst>
              <a:gd name="adj" fmla="val 75000"/>
            </a:avLst>
          </a:prstGeom>
          <a:solidFill>
            <a:srgbClr val="148A83"/>
          </a:solidFill>
          <a:ln w="12700">
            <a:solidFill>
              <a:srgbClr val="148A83">
                <a:alpha val="0"/>
              </a:srgbClr>
            </a:solidFill>
            <a:prstDash val="solid"/>
          </a:ln>
        </p:spPr>
      </p:sp>
      <p:sp>
        <p:nvSpPr>
          <p:cNvPr id="27" name="Text 25"/>
          <p:cNvSpPr txBox="1"/>
          <p:nvPr/>
        </p:nvSpPr>
        <p:spPr>
          <a:xfrm>
            <a:off x="6309360" y="5175504"/>
            <a:ext cx="749808" cy="219456"/>
          </a:xfrm>
          <a:prstGeom prst="rect">
            <a:avLst/>
          </a:prstGeom>
          <a:noFill/>
          <a:ln/>
        </p:spPr>
        <p:txBody>
          <a:bodyPr wrap="square" lIns="0" tIns="0" rIns="0" bIns="0" rtlCol="0" anchor="ctr">
            <a:normAutofit/>
          </a:bodyPr>
          <a:lstStyle/>
          <a:p>
            <a:pPr algn="l" indent="0" marL="0">
              <a:buNone/>
            </a:pPr>
            <a:r>
              <a:rPr lang="en-US" sz="1100" b="1" dirty="0">
                <a:solidFill>
                  <a:srgbClr val="536170"/>
                </a:solidFill>
                <a:latin typeface="Calibri" pitchFamily="34" charset="0"/>
                <a:ea typeface="Calibri" pitchFamily="34" charset="-122"/>
                <a:cs typeface="Calibri" pitchFamily="34" charset="-120"/>
              </a:rPr>
              <a:t>13.1 min</a:t>
            </a:r>
            <a:endParaRPr lang="en-US" sz="1100" dirty="0"/>
          </a:p>
        </p:txBody>
      </p:sp>
      <p:sp>
        <p:nvSpPr>
          <p:cNvPr id="28" name="Text 26"/>
          <p:cNvSpPr txBox="1"/>
          <p:nvPr/>
        </p:nvSpPr>
        <p:spPr>
          <a:xfrm>
            <a:off x="1060704" y="5504688"/>
            <a:ext cx="960120" cy="201168"/>
          </a:xfrm>
          <a:prstGeom prst="rect">
            <a:avLst/>
          </a:prstGeom>
          <a:noFill/>
          <a:ln/>
        </p:spPr>
        <p:txBody>
          <a:bodyPr wrap="square" lIns="0" tIns="0" rIns="0" bIns="0" rtlCol="0" anchor="ctr">
            <a:normAutofit/>
          </a:bodyPr>
          <a:lstStyle/>
          <a:p>
            <a:pPr algn="l" indent="0" marL="0">
              <a:buNone/>
            </a:pPr>
            <a:r>
              <a:rPr lang="en-US" sz="1100" dirty="0">
                <a:solidFill>
                  <a:srgbClr val="536170"/>
                </a:solidFill>
                <a:latin typeface="Calibri" pitchFamily="34" charset="0"/>
                <a:ea typeface="Calibri" pitchFamily="34" charset="-122"/>
                <a:cs typeface="Calibri" pitchFamily="34" charset="-120"/>
              </a:rPr>
              <a:t>Members</a:t>
            </a:r>
            <a:endParaRPr lang="en-US" sz="1100" dirty="0"/>
          </a:p>
        </p:txBody>
      </p:sp>
      <p:sp>
        <p:nvSpPr>
          <p:cNvPr id="29" name="Shape 27"/>
          <p:cNvSpPr/>
          <p:nvPr/>
        </p:nvSpPr>
        <p:spPr>
          <a:xfrm>
            <a:off x="2103120" y="5541264"/>
            <a:ext cx="3299155" cy="146304"/>
          </a:xfrm>
          <a:prstGeom prst="roundRect">
            <a:avLst>
              <a:gd name="adj" fmla="val 75000"/>
            </a:avLst>
          </a:prstGeom>
          <a:solidFill>
            <a:srgbClr val="56B8AA"/>
          </a:solidFill>
          <a:ln w="12700">
            <a:solidFill>
              <a:srgbClr val="148A83"/>
            </a:solidFill>
            <a:prstDash val="solid"/>
          </a:ln>
        </p:spPr>
      </p:sp>
      <p:sp>
        <p:nvSpPr>
          <p:cNvPr id="30" name="Text 28"/>
          <p:cNvSpPr txBox="1"/>
          <p:nvPr/>
        </p:nvSpPr>
        <p:spPr>
          <a:xfrm>
            <a:off x="6309360" y="5486400"/>
            <a:ext cx="749808" cy="219456"/>
          </a:xfrm>
          <a:prstGeom prst="rect">
            <a:avLst/>
          </a:prstGeom>
          <a:noFill/>
          <a:ln/>
        </p:spPr>
        <p:txBody>
          <a:bodyPr wrap="square" lIns="0" tIns="0" rIns="0" bIns="0" rtlCol="0" anchor="ctr">
            <a:normAutofit/>
          </a:bodyPr>
          <a:lstStyle/>
          <a:p>
            <a:pPr algn="l" indent="0" marL="0">
              <a:buNone/>
            </a:pPr>
            <a:r>
              <a:rPr lang="en-US" sz="1100" b="1" dirty="0">
                <a:solidFill>
                  <a:srgbClr val="536170"/>
                </a:solidFill>
                <a:latin typeface="Calibri" pitchFamily="34" charset="0"/>
                <a:ea typeface="Calibri" pitchFamily="34" charset="-122"/>
                <a:cs typeface="Calibri" pitchFamily="34" charset="-120"/>
              </a:rPr>
              <a:t>12.3 min</a:t>
            </a:r>
            <a:endParaRPr lang="en-US" sz="1100" dirty="0"/>
          </a:p>
        </p:txBody>
      </p:sp>
      <p:sp>
        <p:nvSpPr>
          <p:cNvPr id="31" name="Text 29"/>
          <p:cNvSpPr txBox="1"/>
          <p:nvPr/>
        </p:nvSpPr>
        <p:spPr>
          <a:xfrm>
            <a:off x="1060704" y="5815584"/>
            <a:ext cx="960120" cy="201168"/>
          </a:xfrm>
          <a:prstGeom prst="rect">
            <a:avLst/>
          </a:prstGeom>
          <a:noFill/>
          <a:ln/>
        </p:spPr>
        <p:txBody>
          <a:bodyPr wrap="square" lIns="0" tIns="0" rIns="0" bIns="0" rtlCol="0" anchor="ctr">
            <a:normAutofit/>
          </a:bodyPr>
          <a:lstStyle/>
          <a:p>
            <a:pPr algn="l" indent="0" marL="0">
              <a:buNone/>
            </a:pPr>
            <a:r>
              <a:rPr lang="en-US" sz="1100" dirty="0">
                <a:solidFill>
                  <a:srgbClr val="536170"/>
                </a:solidFill>
                <a:latin typeface="Calibri" pitchFamily="34" charset="0"/>
                <a:ea typeface="Calibri" pitchFamily="34" charset="-122"/>
                <a:cs typeface="Calibri" pitchFamily="34" charset="-120"/>
              </a:rPr>
              <a:t>Notify</a:t>
            </a:r>
            <a:endParaRPr lang="en-US" sz="1100" dirty="0"/>
          </a:p>
        </p:txBody>
      </p:sp>
      <p:sp>
        <p:nvSpPr>
          <p:cNvPr id="32" name="Shape 30"/>
          <p:cNvSpPr/>
          <p:nvPr/>
        </p:nvSpPr>
        <p:spPr>
          <a:xfrm>
            <a:off x="2103120" y="5852160"/>
            <a:ext cx="3352800" cy="146304"/>
          </a:xfrm>
          <a:prstGeom prst="roundRect">
            <a:avLst>
              <a:gd name="adj" fmla="val 75000"/>
            </a:avLst>
          </a:prstGeom>
          <a:solidFill>
            <a:srgbClr val="148A83"/>
          </a:solidFill>
          <a:ln w="12700">
            <a:solidFill>
              <a:srgbClr val="148A83">
                <a:alpha val="0"/>
              </a:srgbClr>
            </a:solidFill>
            <a:prstDash val="solid"/>
          </a:ln>
        </p:spPr>
      </p:sp>
      <p:sp>
        <p:nvSpPr>
          <p:cNvPr id="33" name="Text 31"/>
          <p:cNvSpPr txBox="1"/>
          <p:nvPr/>
        </p:nvSpPr>
        <p:spPr>
          <a:xfrm>
            <a:off x="6309360" y="5797296"/>
            <a:ext cx="749808" cy="219456"/>
          </a:xfrm>
          <a:prstGeom prst="rect">
            <a:avLst/>
          </a:prstGeom>
          <a:noFill/>
          <a:ln/>
        </p:spPr>
        <p:txBody>
          <a:bodyPr wrap="square" lIns="0" tIns="0" rIns="0" bIns="0" rtlCol="0" anchor="ctr">
            <a:normAutofit/>
          </a:bodyPr>
          <a:lstStyle/>
          <a:p>
            <a:pPr algn="l" indent="0" marL="0">
              <a:buNone/>
            </a:pPr>
            <a:r>
              <a:rPr lang="en-US" sz="1100" b="1" dirty="0">
                <a:solidFill>
                  <a:srgbClr val="536170"/>
                </a:solidFill>
                <a:latin typeface="Calibri" pitchFamily="34" charset="0"/>
                <a:ea typeface="Calibri" pitchFamily="34" charset="-122"/>
                <a:cs typeface="Calibri" pitchFamily="34" charset="-120"/>
              </a:rPr>
              <a:t>12.5 min</a:t>
            </a:r>
            <a:endParaRPr lang="en-US" sz="1100" dirty="0"/>
          </a:p>
        </p:txBody>
      </p:sp>
      <p:sp>
        <p:nvSpPr>
          <p:cNvPr id="34" name="Shape 32"/>
          <p:cNvSpPr/>
          <p:nvPr/>
        </p:nvSpPr>
        <p:spPr>
          <a:xfrm>
            <a:off x="7589520" y="4443984"/>
            <a:ext cx="3493008" cy="1682496"/>
          </a:xfrm>
          <a:prstGeom prst="roundRect">
            <a:avLst>
              <a:gd name="adj" fmla="val 6522"/>
            </a:avLst>
          </a:prstGeom>
          <a:solidFill>
            <a:srgbClr val="F8EBD1"/>
          </a:solidFill>
          <a:ln w="12700">
            <a:solidFill>
              <a:srgbClr val="F8EBD1">
                <a:alpha val="0"/>
              </a:srgbClr>
            </a:solidFill>
            <a:prstDash val="solid"/>
          </a:ln>
        </p:spPr>
      </p:sp>
      <p:sp>
        <p:nvSpPr>
          <p:cNvPr id="35" name="Text 33"/>
          <p:cNvSpPr txBox="1"/>
          <p:nvPr/>
        </p:nvSpPr>
        <p:spPr>
          <a:xfrm>
            <a:off x="7882128" y="4681728"/>
            <a:ext cx="2926080" cy="310896"/>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Read the sample carefully</a:t>
            </a:r>
            <a:endParaRPr lang="en-US" sz="1700" dirty="0"/>
          </a:p>
        </p:txBody>
      </p:sp>
      <p:sp>
        <p:nvSpPr>
          <p:cNvPr id="36" name="Text 34"/>
          <p:cNvSpPr txBox="1"/>
          <p:nvPr/>
        </p:nvSpPr>
        <p:spPr>
          <a:xfrm>
            <a:off x="7882128" y="5129784"/>
            <a:ext cx="2834640" cy="713232"/>
          </a:xfrm>
          <a:prstGeom prst="rect">
            <a:avLst/>
          </a:prstGeom>
          <a:noFill/>
          <a:ln/>
        </p:spPr>
        <p:txBody>
          <a:bodyPr wrap="square" lIns="0" tIns="0" rIns="0" bIns="0" rtlCol="0" anchor="t">
            <a:normAutofit/>
          </a:bodyPr>
          <a:lstStyle/>
          <a:p>
            <a:pPr algn="l" indent="0" marL="0">
              <a:buNone/>
            </a:pPr>
            <a:r>
              <a:rPr lang="en-US" sz="1200" dirty="0">
                <a:solidFill>
                  <a:srgbClr val="536170"/>
                </a:solidFill>
                <a:latin typeface="Calibri" pitchFamily="34" charset="0"/>
                <a:ea typeface="Calibri" pitchFamily="34" charset="-122"/>
                <a:cs typeface="Calibri" pitchFamily="34" charset="-120"/>
              </a:rPr>
              <a:t>Short scripted window; synthetic changes; no human review in lead time. Frequency is not normal team cadence.</a:t>
            </a:r>
            <a:endParaRPr lang="en-US" sz="12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E6 · REPRODUCIBILITY</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The environment rebuilds from Git on local and Azure</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Each successful round returns GitOps applications to healthy and the four sample services to HTTP 200.</a:t>
            </a:r>
            <a:endParaRPr lang="en-US" sz="1400" dirty="0"/>
          </a:p>
        </p:txBody>
      </p:sp>
      <p:sp>
        <p:nvSpPr>
          <p:cNvPr id="5" name="Text 3"/>
          <p:cNvSpPr txBox="1"/>
          <p:nvPr/>
        </p:nvSpPr>
        <p:spPr>
          <a:xfrm>
            <a:off x="1078992" y="2039112"/>
            <a:ext cx="3840480" cy="292608"/>
          </a:xfrm>
          <a:prstGeom prst="rect">
            <a:avLst/>
          </a:prstGeom>
          <a:noFill/>
          <a:ln/>
        </p:spPr>
        <p:txBody>
          <a:bodyPr wrap="square" lIns="0" tIns="0" rIns="0" bIns="0" rtlCol="0" anchor="ctr">
            <a:normAutofit/>
          </a:bodyPr>
          <a:lstStyle/>
          <a:p>
            <a:pPr algn="l" indent="0" marL="0">
              <a:buNone/>
            </a:pPr>
            <a:r>
              <a:rPr lang="en-US" sz="1200" b="1" dirty="0">
                <a:solidFill>
                  <a:srgbClr val="148A83"/>
                </a:solidFill>
                <a:latin typeface="Calibri" pitchFamily="34" charset="0"/>
                <a:ea typeface="Calibri" pitchFamily="34" charset="-122"/>
                <a:cs typeface="Calibri" pitchFamily="34" charset="-120"/>
              </a:rPr>
              <a:t>LOCAL · KIND</a:t>
            </a:r>
            <a:endParaRPr lang="en-US" sz="1200" dirty="0"/>
          </a:p>
        </p:txBody>
      </p:sp>
      <p:sp>
        <p:nvSpPr>
          <p:cNvPr id="6" name="Text 4"/>
          <p:cNvSpPr txBox="1"/>
          <p:nvPr/>
        </p:nvSpPr>
        <p:spPr>
          <a:xfrm>
            <a:off x="1024128" y="2542032"/>
            <a:ext cx="2834640" cy="676656"/>
          </a:xfrm>
          <a:prstGeom prst="rect">
            <a:avLst/>
          </a:prstGeom>
          <a:noFill/>
          <a:ln/>
        </p:spPr>
        <p:txBody>
          <a:bodyPr wrap="square" lIns="0" tIns="0" rIns="0" bIns="0" rtlCol="0" anchor="ctr">
            <a:normAutofit/>
          </a:bodyPr>
          <a:lstStyle/>
          <a:p>
            <a:pPr algn="l" indent="0" marL="0">
              <a:buNone/>
            </a:pPr>
            <a:r>
              <a:rPr lang="en-US" sz="4200" b="1" dirty="0">
                <a:solidFill>
                  <a:srgbClr val="17212B"/>
                </a:solidFill>
                <a:latin typeface="Cambria" pitchFamily="34" charset="0"/>
                <a:ea typeface="Cambria" pitchFamily="34" charset="-122"/>
                <a:cs typeface="Cambria" pitchFamily="34" charset="-120"/>
              </a:rPr>
              <a:t>12 / 13</a:t>
            </a:r>
            <a:endParaRPr lang="en-US" sz="4200" dirty="0"/>
          </a:p>
        </p:txBody>
      </p:sp>
      <p:sp>
        <p:nvSpPr>
          <p:cNvPr id="7" name="Text 5"/>
          <p:cNvSpPr txBox="1"/>
          <p:nvPr/>
        </p:nvSpPr>
        <p:spPr>
          <a:xfrm>
            <a:off x="1078992" y="3319272"/>
            <a:ext cx="3108960" cy="292608"/>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successful rebuilds</a:t>
            </a:r>
            <a:endParaRPr lang="en-US" sz="1700" dirty="0"/>
          </a:p>
        </p:txBody>
      </p:sp>
      <p:sp>
        <p:nvSpPr>
          <p:cNvPr id="8" name="Text 6"/>
          <p:cNvSpPr txBox="1"/>
          <p:nvPr/>
        </p:nvSpPr>
        <p:spPr>
          <a:xfrm>
            <a:off x="1078992" y="3840480"/>
            <a:ext cx="3566160" cy="292608"/>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Median 14.8 min  ·  p90 24.2 min</a:t>
            </a:r>
            <a:endParaRPr lang="en-US" sz="1400" dirty="0"/>
          </a:p>
        </p:txBody>
      </p:sp>
      <p:sp>
        <p:nvSpPr>
          <p:cNvPr id="9" name="Shape 7"/>
          <p:cNvSpPr/>
          <p:nvPr/>
        </p:nvSpPr>
        <p:spPr>
          <a:xfrm>
            <a:off x="5303520" y="2011680"/>
            <a:ext cx="54864" cy="2926080"/>
          </a:xfrm>
          <a:prstGeom prst="roundRect">
            <a:avLst>
              <a:gd name="adj" fmla="val 200000"/>
            </a:avLst>
          </a:prstGeom>
          <a:solidFill>
            <a:srgbClr val="DCE3E8"/>
          </a:solidFill>
          <a:ln w="12700">
            <a:solidFill>
              <a:srgbClr val="DCE3E8">
                <a:alpha val="0"/>
              </a:srgbClr>
            </a:solidFill>
            <a:prstDash val="solid"/>
          </a:ln>
        </p:spPr>
      </p:sp>
      <p:sp>
        <p:nvSpPr>
          <p:cNvPr id="10" name="Text 8"/>
          <p:cNvSpPr txBox="1"/>
          <p:nvPr/>
        </p:nvSpPr>
        <p:spPr>
          <a:xfrm>
            <a:off x="6071616" y="2039112"/>
            <a:ext cx="3840480" cy="292608"/>
          </a:xfrm>
          <a:prstGeom prst="rect">
            <a:avLst/>
          </a:prstGeom>
          <a:noFill/>
          <a:ln/>
        </p:spPr>
        <p:txBody>
          <a:bodyPr wrap="square" lIns="0" tIns="0" rIns="0" bIns="0" rtlCol="0" anchor="ctr">
            <a:normAutofit/>
          </a:bodyPr>
          <a:lstStyle/>
          <a:p>
            <a:pPr algn="l" indent="0" marL="0">
              <a:buNone/>
            </a:pPr>
            <a:r>
              <a:rPr lang="en-US" sz="1200" b="1" dirty="0">
                <a:solidFill>
                  <a:srgbClr val="148A83"/>
                </a:solidFill>
                <a:latin typeface="Calibri" pitchFamily="34" charset="0"/>
                <a:ea typeface="Calibri" pitchFamily="34" charset="-122"/>
                <a:cs typeface="Calibri" pitchFamily="34" charset="-120"/>
              </a:rPr>
              <a:t>AZURE · AKS</a:t>
            </a:r>
            <a:endParaRPr lang="en-US" sz="1200" dirty="0"/>
          </a:p>
        </p:txBody>
      </p:sp>
      <p:sp>
        <p:nvSpPr>
          <p:cNvPr id="11" name="Text 9"/>
          <p:cNvSpPr txBox="1"/>
          <p:nvPr/>
        </p:nvSpPr>
        <p:spPr>
          <a:xfrm>
            <a:off x="6016752" y="2542032"/>
            <a:ext cx="2834640" cy="676656"/>
          </a:xfrm>
          <a:prstGeom prst="rect">
            <a:avLst/>
          </a:prstGeom>
          <a:noFill/>
          <a:ln/>
        </p:spPr>
        <p:txBody>
          <a:bodyPr wrap="square" lIns="0" tIns="0" rIns="0" bIns="0" rtlCol="0" anchor="ctr">
            <a:normAutofit/>
          </a:bodyPr>
          <a:lstStyle/>
          <a:p>
            <a:pPr algn="l" indent="0" marL="0">
              <a:buNone/>
            </a:pPr>
            <a:r>
              <a:rPr lang="en-US" sz="4200" b="1" dirty="0">
                <a:solidFill>
                  <a:srgbClr val="17212B"/>
                </a:solidFill>
                <a:latin typeface="Cambria" pitchFamily="34" charset="0"/>
                <a:ea typeface="Cambria" pitchFamily="34" charset="-122"/>
                <a:cs typeface="Cambria" pitchFamily="34" charset="-120"/>
              </a:rPr>
              <a:t>5 / 5</a:t>
            </a:r>
            <a:endParaRPr lang="en-US" sz="4200" dirty="0"/>
          </a:p>
        </p:txBody>
      </p:sp>
      <p:sp>
        <p:nvSpPr>
          <p:cNvPr id="12" name="Text 10"/>
          <p:cNvSpPr txBox="1"/>
          <p:nvPr/>
        </p:nvSpPr>
        <p:spPr>
          <a:xfrm>
            <a:off x="6071616" y="3319272"/>
            <a:ext cx="4114800" cy="292608"/>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successful rebuilds from empty</a:t>
            </a:r>
            <a:endParaRPr lang="en-US" sz="1700" dirty="0"/>
          </a:p>
        </p:txBody>
      </p:sp>
      <p:sp>
        <p:nvSpPr>
          <p:cNvPr id="13" name="Text 11"/>
          <p:cNvSpPr txBox="1"/>
          <p:nvPr/>
        </p:nvSpPr>
        <p:spPr>
          <a:xfrm>
            <a:off x="6071616" y="3840480"/>
            <a:ext cx="4023360" cy="292608"/>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Median 22 min  ·  zero manual steps</a:t>
            </a:r>
            <a:endParaRPr lang="en-US" sz="1400" dirty="0"/>
          </a:p>
        </p:txBody>
      </p:sp>
      <p:sp>
        <p:nvSpPr>
          <p:cNvPr id="14" name="Shape 12"/>
          <p:cNvSpPr/>
          <p:nvPr/>
        </p:nvSpPr>
        <p:spPr>
          <a:xfrm>
            <a:off x="6071616" y="4498848"/>
            <a:ext cx="3675888" cy="310896"/>
          </a:xfrm>
          <a:prstGeom prst="roundRect">
            <a:avLst>
              <a:gd name="adj" fmla="val 35294"/>
            </a:avLst>
          </a:prstGeom>
          <a:solidFill>
            <a:srgbClr val="F8EBD1"/>
          </a:solidFill>
          <a:ln w="12700">
            <a:solidFill>
              <a:srgbClr val="F8EBD1">
                <a:alpha val="0"/>
              </a:srgbClr>
            </a:solidFill>
            <a:prstDash val="solid"/>
          </a:ln>
        </p:spPr>
      </p:sp>
      <p:sp>
        <p:nvSpPr>
          <p:cNvPr id="15" name="Text 13"/>
          <p:cNvSpPr txBox="1"/>
          <p:nvPr/>
        </p:nvSpPr>
        <p:spPr>
          <a:xfrm>
            <a:off x="6163056" y="4507992"/>
            <a:ext cx="3493008" cy="274320"/>
          </a:xfrm>
          <a:prstGeom prst="rect">
            <a:avLst/>
          </a:prstGeom>
          <a:noFill/>
          <a:ln/>
        </p:spPr>
        <p:txBody>
          <a:bodyPr wrap="square" lIns="0" tIns="0" rIns="0" bIns="0" rtlCol="0" anchor="ctr">
            <a:normAutofit/>
          </a:bodyPr>
          <a:lstStyle/>
          <a:p>
            <a:pPr algn="ctr" indent="0" marL="0">
              <a:buNone/>
            </a:pPr>
            <a:r>
              <a:rPr lang="en-US" sz="1000" b="1" dirty="0">
                <a:solidFill>
                  <a:srgbClr val="17212B"/>
                </a:solidFill>
                <a:latin typeface="Calibri" pitchFamily="34" charset="0"/>
                <a:ea typeface="Calibri" pitchFamily="34" charset="-122"/>
                <a:cs typeface="Calibri" pitchFamily="34" charset="-120"/>
              </a:rPr>
              <a:t>4 FAILED AZURE ATTEMPTS RETAINED AND EXPLAINED</a:t>
            </a:r>
            <a:endParaRPr lang="en-US" sz="1000" dirty="0"/>
          </a:p>
        </p:txBody>
      </p:sp>
      <p:sp>
        <p:nvSpPr>
          <p:cNvPr id="16" name="Text 14"/>
          <p:cNvSpPr txBox="1"/>
          <p:nvPr/>
        </p:nvSpPr>
        <p:spPr>
          <a:xfrm>
            <a:off x="2103120" y="5669280"/>
            <a:ext cx="7955280" cy="310896"/>
          </a:xfrm>
          <a:prstGeom prst="rect">
            <a:avLst/>
          </a:prstGeom>
          <a:noFill/>
          <a:ln/>
        </p:spPr>
        <p:txBody>
          <a:bodyPr wrap="square" lIns="0" tIns="0" rIns="0" bIns="0" rtlCol="0" anchor="ctr">
            <a:normAutofit/>
          </a:bodyPr>
          <a:lstStyle/>
          <a:p>
            <a:pPr algn="ctr" indent="0" marL="0">
              <a:buNone/>
            </a:pPr>
            <a:r>
              <a:rPr lang="en-US" sz="1800" b="1" dirty="0">
                <a:solidFill>
                  <a:srgbClr val="17212B"/>
                </a:solidFill>
                <a:latin typeface="Calibri" pitchFamily="34" charset="0"/>
                <a:ea typeface="Calibri" pitchFamily="34" charset="-122"/>
                <a:cs typeface="Calibri" pitchFamily="34" charset="-120"/>
              </a:rPr>
              <a:t>A rebuild ledger records both successes and failures.</a:t>
            </a:r>
            <a:endParaRPr lang="en-US" sz="18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E8 · ADMISSION COST</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Verification latency explains why Deny is staged</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The webhook budget is 30 seconds, so the warm-path margin is real but not comfortable.</a:t>
            </a:r>
            <a:endParaRPr lang="en-US" sz="1400" dirty="0"/>
          </a:p>
        </p:txBody>
      </p:sp>
      <p:sp>
        <p:nvSpPr>
          <p:cNvPr id="5" name="Shape 3"/>
          <p:cNvSpPr/>
          <p:nvPr/>
        </p:nvSpPr>
        <p:spPr>
          <a:xfrm>
            <a:off x="1234440" y="2880360"/>
            <a:ext cx="8869680" cy="402336"/>
          </a:xfrm>
          <a:prstGeom prst="roundRect">
            <a:avLst>
              <a:gd name="adj" fmla="val 27273"/>
            </a:avLst>
          </a:prstGeom>
          <a:solidFill>
            <a:srgbClr val="E6EDF4"/>
          </a:solidFill>
          <a:ln w="12700">
            <a:solidFill>
              <a:srgbClr val="E6EDF4">
                <a:alpha val="0"/>
              </a:srgbClr>
            </a:solidFill>
            <a:prstDash val="solid"/>
          </a:ln>
        </p:spPr>
      </p:sp>
      <p:sp>
        <p:nvSpPr>
          <p:cNvPr id="6" name="Shape 4"/>
          <p:cNvSpPr/>
          <p:nvPr/>
        </p:nvSpPr>
        <p:spPr>
          <a:xfrm>
            <a:off x="1234440" y="2880360"/>
            <a:ext cx="4257446" cy="402336"/>
          </a:xfrm>
          <a:prstGeom prst="roundRect">
            <a:avLst>
              <a:gd name="adj" fmla="val 27273"/>
            </a:avLst>
          </a:prstGeom>
          <a:solidFill>
            <a:srgbClr val="148A83"/>
          </a:solidFill>
          <a:ln w="12700">
            <a:solidFill>
              <a:srgbClr val="148A83">
                <a:alpha val="0"/>
              </a:srgbClr>
            </a:solidFill>
            <a:prstDash val="solid"/>
          </a:ln>
        </p:spPr>
      </p:sp>
      <p:sp>
        <p:nvSpPr>
          <p:cNvPr id="7" name="Shape 5"/>
          <p:cNvSpPr/>
          <p:nvPr/>
        </p:nvSpPr>
        <p:spPr>
          <a:xfrm>
            <a:off x="5491886" y="2880360"/>
            <a:ext cx="1596542" cy="402336"/>
          </a:xfrm>
          <a:prstGeom prst="roundRect">
            <a:avLst>
              <a:gd name="adj" fmla="val 27273"/>
            </a:avLst>
          </a:prstGeom>
          <a:solidFill>
            <a:srgbClr val="E7AD4B"/>
          </a:solidFill>
          <a:ln w="12700">
            <a:solidFill>
              <a:srgbClr val="E7AD4B">
                <a:alpha val="0"/>
              </a:srgbClr>
            </a:solidFill>
            <a:prstDash val="solid"/>
          </a:ln>
        </p:spPr>
      </p:sp>
      <p:sp>
        <p:nvSpPr>
          <p:cNvPr id="8" name="Shape 6"/>
          <p:cNvSpPr/>
          <p:nvPr/>
        </p:nvSpPr>
        <p:spPr>
          <a:xfrm>
            <a:off x="10104120" y="2496312"/>
            <a:ext cx="0" cy="1170432"/>
          </a:xfrm>
          <a:prstGeom prst="line">
            <a:avLst/>
          </a:prstGeom>
          <a:noFill/>
          <a:ln w="31750">
            <a:solidFill>
              <a:srgbClr val="D96960"/>
            </a:solidFill>
            <a:prstDash val="solid"/>
            <a:tailEnd type="none"/>
          </a:ln>
        </p:spPr>
      </p:sp>
      <p:sp>
        <p:nvSpPr>
          <p:cNvPr id="9" name="Text 7"/>
          <p:cNvSpPr txBox="1"/>
          <p:nvPr/>
        </p:nvSpPr>
        <p:spPr>
          <a:xfrm>
            <a:off x="1417320" y="1965960"/>
            <a:ext cx="2011680" cy="365760"/>
          </a:xfrm>
          <a:prstGeom prst="rect">
            <a:avLst/>
          </a:prstGeom>
          <a:noFill/>
          <a:ln/>
        </p:spPr>
        <p:txBody>
          <a:bodyPr wrap="square" lIns="0" tIns="0" rIns="0" bIns="0" rtlCol="0" anchor="ctr">
            <a:normAutofit/>
          </a:bodyPr>
          <a:lstStyle/>
          <a:p>
            <a:pPr algn="l" indent="0" marL="0">
              <a:buNone/>
            </a:pPr>
            <a:r>
              <a:rPr lang="en-US" sz="2700" b="1" dirty="0">
                <a:solidFill>
                  <a:srgbClr val="148A83"/>
                </a:solidFill>
                <a:latin typeface="Cambria" pitchFamily="34" charset="0"/>
                <a:ea typeface="Cambria" pitchFamily="34" charset="-122"/>
                <a:cs typeface="Cambria" pitchFamily="34" charset="-120"/>
              </a:rPr>
              <a:t>14–15 s</a:t>
            </a:r>
            <a:endParaRPr lang="en-US" sz="2700" dirty="0"/>
          </a:p>
        </p:txBody>
      </p:sp>
      <p:sp>
        <p:nvSpPr>
          <p:cNvPr id="10" name="Text 8"/>
          <p:cNvSpPr txBox="1"/>
          <p:nvPr/>
        </p:nvSpPr>
        <p:spPr>
          <a:xfrm>
            <a:off x="1417320" y="2377440"/>
            <a:ext cx="2194560" cy="256032"/>
          </a:xfrm>
          <a:prstGeom prst="rect">
            <a:avLst/>
          </a:prstGeom>
          <a:noFill/>
          <a:ln/>
        </p:spPr>
        <p:txBody>
          <a:bodyPr wrap="square" lIns="0" tIns="0" rIns="0" bIns="0" rtlCol="0" anchor="ctr">
            <a:normAutofit/>
          </a:bodyPr>
          <a:lstStyle/>
          <a:p>
            <a:pPr algn="l" indent="0" marL="0">
              <a:buNone/>
            </a:pPr>
            <a:r>
              <a:rPr lang="en-US" sz="1200" dirty="0">
                <a:solidFill>
                  <a:srgbClr val="536170"/>
                </a:solidFill>
                <a:latin typeface="Calibri" pitchFamily="34" charset="0"/>
                <a:ea typeface="Calibri" pitchFamily="34" charset="-122"/>
                <a:cs typeface="Calibri" pitchFamily="34" charset="-120"/>
              </a:rPr>
              <a:t>warm verification</a:t>
            </a:r>
            <a:endParaRPr lang="en-US" sz="1200" dirty="0"/>
          </a:p>
        </p:txBody>
      </p:sp>
      <p:sp>
        <p:nvSpPr>
          <p:cNvPr id="11" name="Text 9"/>
          <p:cNvSpPr txBox="1"/>
          <p:nvPr/>
        </p:nvSpPr>
        <p:spPr>
          <a:xfrm>
            <a:off x="9829800" y="1965960"/>
            <a:ext cx="914400" cy="365760"/>
          </a:xfrm>
          <a:prstGeom prst="rect">
            <a:avLst/>
          </a:prstGeom>
          <a:noFill/>
          <a:ln/>
        </p:spPr>
        <p:txBody>
          <a:bodyPr wrap="square" lIns="0" tIns="0" rIns="0" bIns="0" rtlCol="0" anchor="ctr">
            <a:normAutofit/>
          </a:bodyPr>
          <a:lstStyle/>
          <a:p>
            <a:pPr algn="r" indent="0" marL="0">
              <a:buNone/>
            </a:pPr>
            <a:r>
              <a:rPr lang="en-US" sz="2700" b="1" dirty="0">
                <a:solidFill>
                  <a:srgbClr val="D96960"/>
                </a:solidFill>
                <a:latin typeface="Cambria" pitchFamily="34" charset="0"/>
                <a:ea typeface="Cambria" pitchFamily="34" charset="-122"/>
                <a:cs typeface="Cambria" pitchFamily="34" charset="-120"/>
              </a:rPr>
              <a:t>30 s</a:t>
            </a:r>
            <a:endParaRPr lang="en-US" sz="2700" dirty="0"/>
          </a:p>
        </p:txBody>
      </p:sp>
      <p:sp>
        <p:nvSpPr>
          <p:cNvPr id="12" name="Text 10"/>
          <p:cNvSpPr txBox="1"/>
          <p:nvPr/>
        </p:nvSpPr>
        <p:spPr>
          <a:xfrm>
            <a:off x="8595360" y="2377440"/>
            <a:ext cx="1508760" cy="256032"/>
          </a:xfrm>
          <a:prstGeom prst="rect">
            <a:avLst/>
          </a:prstGeom>
          <a:noFill/>
          <a:ln/>
        </p:spPr>
        <p:txBody>
          <a:bodyPr wrap="square" lIns="0" tIns="0" rIns="0" bIns="0" rtlCol="0" anchor="ctr">
            <a:normAutofit/>
          </a:bodyPr>
          <a:lstStyle/>
          <a:p>
            <a:pPr algn="r" indent="0" marL="0">
              <a:buNone/>
            </a:pPr>
            <a:r>
              <a:rPr lang="en-US" sz="1200" dirty="0">
                <a:solidFill>
                  <a:srgbClr val="536170"/>
                </a:solidFill>
                <a:latin typeface="Calibri" pitchFamily="34" charset="0"/>
                <a:ea typeface="Calibri" pitchFamily="34" charset="-122"/>
                <a:cs typeface="Calibri" pitchFamily="34" charset="-120"/>
              </a:rPr>
              <a:t>webhook timeout</a:t>
            </a:r>
            <a:endParaRPr lang="en-US" sz="1200" dirty="0"/>
          </a:p>
        </p:txBody>
      </p:sp>
      <p:sp>
        <p:nvSpPr>
          <p:cNvPr id="13" name="Text 11"/>
          <p:cNvSpPr txBox="1"/>
          <p:nvPr/>
        </p:nvSpPr>
        <p:spPr>
          <a:xfrm>
            <a:off x="2103120" y="3785616"/>
            <a:ext cx="8046720" cy="329184"/>
          </a:xfrm>
          <a:prstGeom prst="rect">
            <a:avLst/>
          </a:prstGeom>
          <a:noFill/>
          <a:ln/>
        </p:spPr>
        <p:txBody>
          <a:bodyPr wrap="square" lIns="0" tIns="0" rIns="0" bIns="0" rtlCol="0" anchor="ctr">
            <a:normAutofit/>
          </a:bodyPr>
          <a:lstStyle/>
          <a:p>
            <a:pPr algn="ctr" indent="0" marL="0">
              <a:buNone/>
            </a:pPr>
            <a:r>
              <a:rPr lang="en-US" sz="1600" b="1" dirty="0">
                <a:solidFill>
                  <a:srgbClr val="17212B"/>
                </a:solidFill>
                <a:latin typeface="Calibri" pitchFamily="34" charset="0"/>
                <a:ea typeface="Calibri" pitchFamily="34" charset="-122"/>
                <a:cs typeface="Calibri" pitchFamily="34" charset="-120"/>
              </a:rPr>
              <a:t>Kind and AKS produced similar warm measurements.</a:t>
            </a:r>
            <a:endParaRPr lang="en-US" sz="1600" dirty="0"/>
          </a:p>
        </p:txBody>
      </p:sp>
      <p:sp>
        <p:nvSpPr>
          <p:cNvPr id="14" name="Shape 12"/>
          <p:cNvSpPr/>
          <p:nvPr/>
        </p:nvSpPr>
        <p:spPr>
          <a:xfrm>
            <a:off x="1993392" y="4617720"/>
            <a:ext cx="8183880" cy="777240"/>
          </a:xfrm>
          <a:prstGeom prst="roundRect">
            <a:avLst>
              <a:gd name="adj" fmla="val 14118"/>
            </a:avLst>
          </a:prstGeom>
          <a:solidFill>
            <a:srgbClr val="F8EBD1"/>
          </a:solidFill>
          <a:ln w="12700">
            <a:solidFill>
              <a:srgbClr val="F8EBD1">
                <a:alpha val="0"/>
              </a:srgbClr>
            </a:solidFill>
            <a:prstDash val="solid"/>
          </a:ln>
        </p:spPr>
      </p:sp>
      <p:sp>
        <p:nvSpPr>
          <p:cNvPr id="15" name="Text 13"/>
          <p:cNvSpPr txBox="1"/>
          <p:nvPr/>
        </p:nvSpPr>
        <p:spPr>
          <a:xfrm>
            <a:off x="2286000" y="4800600"/>
            <a:ext cx="7589520" cy="384048"/>
          </a:xfrm>
          <a:prstGeom prst="rect">
            <a:avLst/>
          </a:prstGeom>
          <a:noFill/>
          <a:ln/>
        </p:spPr>
        <p:txBody>
          <a:bodyPr wrap="square" lIns="0" tIns="0" rIns="0" bIns="0" rtlCol="0" anchor="ctr">
            <a:normAutofit/>
          </a:bodyPr>
          <a:lstStyle/>
          <a:p>
            <a:pPr algn="ctr" indent="0" marL="0">
              <a:buNone/>
            </a:pPr>
            <a:r>
              <a:rPr lang="en-US" sz="1500" dirty="0">
                <a:solidFill>
                  <a:srgbClr val="17212B"/>
                </a:solidFill>
                <a:latin typeface="Calibri" pitchFamily="34" charset="0"/>
                <a:ea typeface="Calibri" pitchFamily="34" charset="-122"/>
                <a:cs typeface="Calibri" pitchFamily="34" charset="-120"/>
              </a:rPr>
              <a:t>Next gate: retry transient fetches, then repeat legitimate-pod and attack suites before changing policy mode.</a:t>
            </a:r>
            <a:endParaRPr lang="en-US" sz="15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ENGINEERING LESSONS</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The measurements exposed defects before submission</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The platform improved through observed failures, not only happy-path demonstrations.</a:t>
            </a:r>
            <a:endParaRPr lang="en-US" sz="1400" dirty="0"/>
          </a:p>
        </p:txBody>
      </p:sp>
      <p:sp>
        <p:nvSpPr>
          <p:cNvPr id="5" name="Shape 3"/>
          <p:cNvSpPr/>
          <p:nvPr/>
        </p:nvSpPr>
        <p:spPr>
          <a:xfrm>
            <a:off x="749808" y="2194560"/>
            <a:ext cx="3383280" cy="2542032"/>
          </a:xfrm>
          <a:prstGeom prst="roundRect">
            <a:avLst>
              <a:gd name="adj" fmla="val 4317"/>
            </a:avLst>
          </a:prstGeom>
          <a:solidFill>
            <a:srgbClr val="FFFFFF"/>
          </a:solidFill>
          <a:ln w="12700">
            <a:solidFill>
              <a:srgbClr val="DCE3E8"/>
            </a:solidFill>
            <a:prstDash val="solid"/>
          </a:ln>
        </p:spPr>
      </p:sp>
      <p:sp>
        <p:nvSpPr>
          <p:cNvPr id="6" name="Shape 4"/>
          <p:cNvSpPr/>
          <p:nvPr/>
        </p:nvSpPr>
        <p:spPr>
          <a:xfrm>
            <a:off x="950976" y="2414016"/>
            <a:ext cx="256032" cy="256032"/>
          </a:xfrm>
          <a:prstGeom prst="ellipse">
            <a:avLst>
              <a:gd name="adj" fmla="val 42857"/>
            </a:avLst>
          </a:prstGeom>
          <a:solidFill>
            <a:srgbClr val="D96960"/>
          </a:solidFill>
          <a:ln w="12700">
            <a:solidFill>
              <a:srgbClr val="D96960">
                <a:alpha val="0"/>
              </a:srgbClr>
            </a:solidFill>
            <a:prstDash val="solid"/>
          </a:ln>
        </p:spPr>
      </p:sp>
      <p:sp>
        <p:nvSpPr>
          <p:cNvPr id="7" name="Text 5"/>
          <p:cNvSpPr txBox="1"/>
          <p:nvPr/>
        </p:nvSpPr>
        <p:spPr>
          <a:xfrm>
            <a:off x="1325880" y="2368296"/>
            <a:ext cx="2596896"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Traffic ownership</a:t>
            </a:r>
            <a:endParaRPr lang="en-US" sz="1800" dirty="0"/>
          </a:p>
        </p:txBody>
      </p:sp>
      <p:sp>
        <p:nvSpPr>
          <p:cNvPr id="8" name="Text 6"/>
          <p:cNvSpPr txBox="1"/>
          <p:nvPr/>
        </p:nvSpPr>
        <p:spPr>
          <a:xfrm>
            <a:off x="978408" y="2898648"/>
            <a:ext cx="2926080" cy="1682496"/>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Argo CD reset a Rollouts-managed Service selector and changed canary traffic share. The sync rules were corrected and forced-sync verified.</a:t>
            </a:r>
            <a:endParaRPr lang="en-US" sz="1300" dirty="0"/>
          </a:p>
        </p:txBody>
      </p:sp>
      <p:sp>
        <p:nvSpPr>
          <p:cNvPr id="9" name="Shape 7"/>
          <p:cNvSpPr/>
          <p:nvPr/>
        </p:nvSpPr>
        <p:spPr>
          <a:xfrm>
            <a:off x="4544568" y="2194560"/>
            <a:ext cx="3383280" cy="2542032"/>
          </a:xfrm>
          <a:prstGeom prst="roundRect">
            <a:avLst>
              <a:gd name="adj" fmla="val 4317"/>
            </a:avLst>
          </a:prstGeom>
          <a:solidFill>
            <a:srgbClr val="FFFFFF"/>
          </a:solidFill>
          <a:ln w="12700">
            <a:solidFill>
              <a:srgbClr val="DCE3E8"/>
            </a:solidFill>
            <a:prstDash val="solid"/>
          </a:ln>
        </p:spPr>
      </p:sp>
      <p:sp>
        <p:nvSpPr>
          <p:cNvPr id="10" name="Shape 8"/>
          <p:cNvSpPr/>
          <p:nvPr/>
        </p:nvSpPr>
        <p:spPr>
          <a:xfrm>
            <a:off x="4745736" y="2414016"/>
            <a:ext cx="256032" cy="256032"/>
          </a:xfrm>
          <a:prstGeom prst="ellipse">
            <a:avLst>
              <a:gd name="adj" fmla="val 42857"/>
            </a:avLst>
          </a:prstGeom>
          <a:solidFill>
            <a:srgbClr val="E7AD4B"/>
          </a:solidFill>
          <a:ln w="12700">
            <a:solidFill>
              <a:srgbClr val="E7AD4B">
                <a:alpha val="0"/>
              </a:srgbClr>
            </a:solidFill>
            <a:prstDash val="solid"/>
          </a:ln>
        </p:spPr>
      </p:sp>
      <p:sp>
        <p:nvSpPr>
          <p:cNvPr id="11" name="Text 9"/>
          <p:cNvSpPr txBox="1"/>
          <p:nvPr/>
        </p:nvSpPr>
        <p:spPr>
          <a:xfrm>
            <a:off x="5120640" y="2368296"/>
            <a:ext cx="2596896"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Policy exemptions</a:t>
            </a:r>
            <a:endParaRPr lang="en-US" sz="1800" dirty="0"/>
          </a:p>
        </p:txBody>
      </p:sp>
      <p:sp>
        <p:nvSpPr>
          <p:cNvPr id="12" name="Text 10"/>
          <p:cNvSpPr txBox="1"/>
          <p:nvPr/>
        </p:nvSpPr>
        <p:spPr>
          <a:xfrm>
            <a:off x="4773168" y="2898648"/>
            <a:ext cx="2926080" cy="1682496"/>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Audit reports hid that legitimate database Pods would be blocked in Deny. The test process now checks real workload classes before enforcement.</a:t>
            </a:r>
            <a:endParaRPr lang="en-US" sz="1300" dirty="0"/>
          </a:p>
        </p:txBody>
      </p:sp>
      <p:sp>
        <p:nvSpPr>
          <p:cNvPr id="13" name="Shape 11"/>
          <p:cNvSpPr/>
          <p:nvPr/>
        </p:nvSpPr>
        <p:spPr>
          <a:xfrm>
            <a:off x="8339328" y="2194560"/>
            <a:ext cx="3383280" cy="2542032"/>
          </a:xfrm>
          <a:prstGeom prst="roundRect">
            <a:avLst>
              <a:gd name="adj" fmla="val 4317"/>
            </a:avLst>
          </a:prstGeom>
          <a:solidFill>
            <a:srgbClr val="FFFFFF"/>
          </a:solidFill>
          <a:ln w="12700">
            <a:solidFill>
              <a:srgbClr val="DCE3E8"/>
            </a:solidFill>
            <a:prstDash val="solid"/>
          </a:ln>
        </p:spPr>
      </p:sp>
      <p:sp>
        <p:nvSpPr>
          <p:cNvPr id="14" name="Shape 12"/>
          <p:cNvSpPr/>
          <p:nvPr/>
        </p:nvSpPr>
        <p:spPr>
          <a:xfrm>
            <a:off x="8540496" y="2414016"/>
            <a:ext cx="256032" cy="256032"/>
          </a:xfrm>
          <a:prstGeom prst="ellipse">
            <a:avLst>
              <a:gd name="adj" fmla="val 42857"/>
            </a:avLst>
          </a:prstGeom>
          <a:solidFill>
            <a:srgbClr val="148A83"/>
          </a:solidFill>
          <a:ln w="12700">
            <a:solidFill>
              <a:srgbClr val="148A83">
                <a:alpha val="0"/>
              </a:srgbClr>
            </a:solidFill>
            <a:prstDash val="solid"/>
          </a:ln>
        </p:spPr>
      </p:sp>
      <p:sp>
        <p:nvSpPr>
          <p:cNvPr id="15" name="Text 13"/>
          <p:cNvSpPr txBox="1"/>
          <p:nvPr/>
        </p:nvSpPr>
        <p:spPr>
          <a:xfrm>
            <a:off x="8915400" y="2368296"/>
            <a:ext cx="2596896"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Deployment counting</a:t>
            </a:r>
            <a:endParaRPr lang="en-US" sz="1800" dirty="0"/>
          </a:p>
        </p:txBody>
      </p:sp>
      <p:sp>
        <p:nvSpPr>
          <p:cNvPr id="16" name="Text 14"/>
          <p:cNvSpPr txBox="1"/>
          <p:nvPr/>
        </p:nvSpPr>
        <p:spPr>
          <a:xfrm>
            <a:off x="8567928" y="2898648"/>
            <a:ext cx="2926080" cy="1682496"/>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Argo CD emitted several deployment records for one revision. The CLI now deduplicates promotion commits and uses final deployment status.</a:t>
            </a:r>
            <a:endParaRPr lang="en-US" sz="1300" dirty="0"/>
          </a:p>
        </p:txBody>
      </p:sp>
      <p:sp>
        <p:nvSpPr>
          <p:cNvPr id="17" name="Text 15"/>
          <p:cNvSpPr txBox="1"/>
          <p:nvPr/>
        </p:nvSpPr>
        <p:spPr>
          <a:xfrm>
            <a:off x="1828800" y="5358384"/>
            <a:ext cx="8321040" cy="420624"/>
          </a:xfrm>
          <a:prstGeom prst="rect">
            <a:avLst/>
          </a:prstGeom>
          <a:noFill/>
          <a:ln/>
        </p:spPr>
        <p:txBody>
          <a:bodyPr wrap="square" lIns="0" tIns="0" rIns="0" bIns="0" rtlCol="0" anchor="ctr">
            <a:normAutofit/>
          </a:bodyPr>
          <a:lstStyle/>
          <a:p>
            <a:pPr algn="ctr" indent="0" marL="0">
              <a:buNone/>
            </a:pPr>
            <a:r>
              <a:rPr lang="en-US" sz="2000" b="1" dirty="0">
                <a:solidFill>
                  <a:srgbClr val="17212B"/>
                </a:solidFill>
                <a:latin typeface="Cambria" pitchFamily="34" charset="0"/>
                <a:ea typeface="Cambria" pitchFamily="34" charset="-122"/>
                <a:cs typeface="Cambria" pitchFamily="34" charset="-120"/>
              </a:rPr>
              <a:t>Failure evidence changed both the implementation and the measurement method.</a:t>
            </a:r>
            <a:endParaRPr lang="en-US" sz="20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SUBMISSION GATES · 27 OCT 2026</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A short list remains before the project is fully closed</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These are explicit verification and approval tasks, not features being presented as complete.</a:t>
            </a:r>
            <a:endParaRPr lang="en-US" sz="1400" dirty="0"/>
          </a:p>
        </p:txBody>
      </p:sp>
      <p:sp>
        <p:nvSpPr>
          <p:cNvPr id="5" name="Shape 3"/>
          <p:cNvSpPr/>
          <p:nvPr/>
        </p:nvSpPr>
        <p:spPr>
          <a:xfrm>
            <a:off x="868680" y="2002536"/>
            <a:ext cx="365760" cy="365760"/>
          </a:xfrm>
          <a:prstGeom prst="ellipse">
            <a:avLst>
              <a:gd name="adj" fmla="val 30000"/>
            </a:avLst>
          </a:prstGeom>
          <a:solidFill>
            <a:srgbClr val="E7AD4B"/>
          </a:solidFill>
          <a:ln w="12700">
            <a:solidFill>
              <a:srgbClr val="E7AD4B">
                <a:alpha val="0"/>
              </a:srgbClr>
            </a:solidFill>
            <a:prstDash val="solid"/>
          </a:ln>
        </p:spPr>
      </p:sp>
      <p:sp>
        <p:nvSpPr>
          <p:cNvPr id="6" name="Text 4"/>
          <p:cNvSpPr txBox="1"/>
          <p:nvPr/>
        </p:nvSpPr>
        <p:spPr>
          <a:xfrm>
            <a:off x="868680" y="2002536"/>
            <a:ext cx="365760" cy="36576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444752" y="1938528"/>
            <a:ext cx="2176272" cy="310896"/>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Azure database</a:t>
            </a:r>
            <a:endParaRPr lang="en-US" sz="1700" dirty="0"/>
          </a:p>
        </p:txBody>
      </p:sp>
      <p:sp>
        <p:nvSpPr>
          <p:cNvPr id="8" name="Text 6"/>
          <p:cNvSpPr txBox="1"/>
          <p:nvPr/>
        </p:nvSpPr>
        <p:spPr>
          <a:xfrm>
            <a:off x="3703320" y="1938528"/>
            <a:ext cx="717804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Review the two PRs; provision a small Flexible Server; connect from a service Pod; delete it and tear down AKS.</a:t>
            </a:r>
            <a:endParaRPr lang="en-US" sz="1300" dirty="0"/>
          </a:p>
        </p:txBody>
      </p:sp>
      <p:sp>
        <p:nvSpPr>
          <p:cNvPr id="9" name="Shape 7"/>
          <p:cNvSpPr/>
          <p:nvPr/>
        </p:nvSpPr>
        <p:spPr>
          <a:xfrm>
            <a:off x="868680" y="2898648"/>
            <a:ext cx="365760" cy="365760"/>
          </a:xfrm>
          <a:prstGeom prst="ellipse">
            <a:avLst>
              <a:gd name="adj" fmla="val 30000"/>
            </a:avLst>
          </a:prstGeom>
          <a:solidFill>
            <a:srgbClr val="D96960"/>
          </a:solidFill>
          <a:ln w="12700">
            <a:solidFill>
              <a:srgbClr val="D96960">
                <a:alpha val="0"/>
              </a:srgbClr>
            </a:solidFill>
            <a:prstDash val="solid"/>
          </a:ln>
        </p:spPr>
      </p:sp>
      <p:sp>
        <p:nvSpPr>
          <p:cNvPr id="10" name="Text 8"/>
          <p:cNvSpPr txBox="1"/>
          <p:nvPr/>
        </p:nvSpPr>
        <p:spPr>
          <a:xfrm>
            <a:off x="868680" y="2898648"/>
            <a:ext cx="365760" cy="36576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1444752" y="2834640"/>
            <a:ext cx="2176272" cy="310896"/>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Image enforcement</a:t>
            </a:r>
            <a:endParaRPr lang="en-US" sz="1700" dirty="0"/>
          </a:p>
        </p:txBody>
      </p:sp>
      <p:sp>
        <p:nvSpPr>
          <p:cNvPr id="12" name="Text 10"/>
          <p:cNvSpPr txBox="1"/>
          <p:nvPr/>
        </p:nvSpPr>
        <p:spPr>
          <a:xfrm>
            <a:off x="3703320" y="2834640"/>
            <a:ext cx="717804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Keep Audit on the pinned Kyverno release; Deny requires five clean releases per service, attack coverage and timeout margin.</a:t>
            </a:r>
            <a:endParaRPr lang="en-US" sz="1300" dirty="0"/>
          </a:p>
        </p:txBody>
      </p:sp>
      <p:sp>
        <p:nvSpPr>
          <p:cNvPr id="13" name="Shape 11"/>
          <p:cNvSpPr/>
          <p:nvPr/>
        </p:nvSpPr>
        <p:spPr>
          <a:xfrm>
            <a:off x="868680" y="3794760"/>
            <a:ext cx="365760" cy="365760"/>
          </a:xfrm>
          <a:prstGeom prst="ellipse">
            <a:avLst>
              <a:gd name="adj" fmla="val 30000"/>
            </a:avLst>
          </a:prstGeom>
          <a:solidFill>
            <a:srgbClr val="148A83"/>
          </a:solidFill>
          <a:ln w="12700">
            <a:solidFill>
              <a:srgbClr val="148A83">
                <a:alpha val="0"/>
              </a:srgbClr>
            </a:solidFill>
            <a:prstDash val="solid"/>
          </a:ln>
        </p:spPr>
      </p:sp>
      <p:sp>
        <p:nvSpPr>
          <p:cNvPr id="14" name="Text 12"/>
          <p:cNvSpPr txBox="1"/>
          <p:nvPr/>
        </p:nvSpPr>
        <p:spPr>
          <a:xfrm>
            <a:off x="868680" y="3794760"/>
            <a:ext cx="365760" cy="36576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444752" y="3730752"/>
            <a:ext cx="2176272" cy="310896"/>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Evaluation + release</a:t>
            </a:r>
            <a:endParaRPr lang="en-US" sz="1700" dirty="0"/>
          </a:p>
        </p:txBody>
      </p:sp>
      <p:sp>
        <p:nvSpPr>
          <p:cNvPr id="16" name="Text 14"/>
          <p:cNvSpPr txBox="1"/>
          <p:nvPr/>
        </p:nvSpPr>
        <p:spPr>
          <a:xfrm>
            <a:off x="3703320" y="3730752"/>
            <a:ext cx="717804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Azure E1 and hand-timed baseline are open; tags require reviewed main branches and final documentation.</a:t>
            </a:r>
            <a:endParaRPr lang="en-US" sz="1300" dirty="0"/>
          </a:p>
        </p:txBody>
      </p:sp>
      <p:sp>
        <p:nvSpPr>
          <p:cNvPr id="17" name="Shape 15"/>
          <p:cNvSpPr/>
          <p:nvPr/>
        </p:nvSpPr>
        <p:spPr>
          <a:xfrm>
            <a:off x="868680" y="4690872"/>
            <a:ext cx="365760" cy="365760"/>
          </a:xfrm>
          <a:prstGeom prst="ellipse">
            <a:avLst>
              <a:gd name="adj" fmla="val 30000"/>
            </a:avLst>
          </a:prstGeom>
          <a:solidFill>
            <a:srgbClr val="536170"/>
          </a:solidFill>
          <a:ln w="12700">
            <a:solidFill>
              <a:srgbClr val="536170">
                <a:alpha val="0"/>
              </a:srgbClr>
            </a:solidFill>
            <a:prstDash val="solid"/>
          </a:ln>
        </p:spPr>
      </p:sp>
      <p:sp>
        <p:nvSpPr>
          <p:cNvPr id="18" name="Text 16"/>
          <p:cNvSpPr txBox="1"/>
          <p:nvPr/>
        </p:nvSpPr>
        <p:spPr>
          <a:xfrm>
            <a:off x="868680" y="4690872"/>
            <a:ext cx="365760" cy="36576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txBox="1"/>
          <p:nvPr/>
        </p:nvSpPr>
        <p:spPr>
          <a:xfrm>
            <a:off x="1444752" y="4626864"/>
            <a:ext cx="2176272" cy="310896"/>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Presentation</a:t>
            </a:r>
            <a:endParaRPr lang="en-US" sz="1700" dirty="0"/>
          </a:p>
        </p:txBody>
      </p:sp>
      <p:sp>
        <p:nvSpPr>
          <p:cNvPr id="20" name="Text 18"/>
          <p:cNvSpPr txBox="1"/>
          <p:nvPr/>
        </p:nvSpPr>
        <p:spPr>
          <a:xfrm>
            <a:off x="3703320" y="4626864"/>
            <a:ext cx="717804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Record the four scenes, update this slide on presentation day and obtain supervisor review. The fresh local rebuild rehearsal passed.</a:t>
            </a:r>
            <a:endParaRPr lang="en-US" sz="1300" dirty="0"/>
          </a:p>
        </p:txBody>
      </p:sp>
      <p:sp>
        <p:nvSpPr>
          <p:cNvPr id="21" name="Shape 19"/>
          <p:cNvSpPr/>
          <p:nvPr/>
        </p:nvSpPr>
        <p:spPr>
          <a:xfrm>
            <a:off x="4425696" y="5760720"/>
            <a:ext cx="2596896" cy="310896"/>
          </a:xfrm>
          <a:prstGeom prst="roundRect">
            <a:avLst>
              <a:gd name="adj" fmla="val 35294"/>
            </a:avLst>
          </a:prstGeom>
          <a:solidFill>
            <a:srgbClr val="DDF1EB"/>
          </a:solidFill>
          <a:ln w="12700">
            <a:solidFill>
              <a:srgbClr val="DDF1EB">
                <a:alpha val="0"/>
              </a:srgbClr>
            </a:solidFill>
            <a:prstDash val="solid"/>
          </a:ln>
        </p:spPr>
      </p:sp>
      <p:sp>
        <p:nvSpPr>
          <p:cNvPr id="22" name="Text 20"/>
          <p:cNvSpPr txBox="1"/>
          <p:nvPr/>
        </p:nvSpPr>
        <p:spPr>
          <a:xfrm>
            <a:off x="4517136" y="5769864"/>
            <a:ext cx="2414016" cy="274320"/>
          </a:xfrm>
          <a:prstGeom prst="rect">
            <a:avLst/>
          </a:prstGeom>
          <a:noFill/>
          <a:ln/>
        </p:spPr>
        <p:txBody>
          <a:bodyPr wrap="square" lIns="0" tIns="0" rIns="0" bIns="0" rtlCol="0" anchor="ctr">
            <a:normAutofit/>
          </a:bodyPr>
          <a:lstStyle/>
          <a:p>
            <a:pPr algn="ctr" indent="0" marL="0">
              <a:buNone/>
            </a:pPr>
            <a:r>
              <a:rPr lang="en-US" sz="1000" b="1" dirty="0">
                <a:solidFill>
                  <a:srgbClr val="148A83"/>
                </a:solidFill>
                <a:latin typeface="Calibri" pitchFamily="34" charset="0"/>
                <a:ea typeface="Calibri" pitchFamily="34" charset="-122"/>
                <a:cs typeface="Calibri" pitchFamily="34" charset="-120"/>
              </a:rPr>
              <a:t>NO KYVERNO VERSION CHANGE</a:t>
            </a:r>
            <a:endParaRPr lang="en-US" sz="10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8212B"/>
        </a:solidFill>
      </p:bgPr>
    </p:bg>
    <p:spTree>
      <p:nvGrpSpPr>
        <p:cNvPr id="1" name=""/>
        <p:cNvGrpSpPr/>
        <p:nvPr/>
      </p:nvGrpSpPr>
      <p:grpSpPr>
        <a:xfrm>
          <a:off x="0" y="0"/>
          <a:ext cx="0" cy="0"/>
          <a:chOff x="0" y="0"/>
          <a:chExt cx="0" cy="0"/>
        </a:xfrm>
      </p:grpSpPr>
      <p:sp>
        <p:nvSpPr>
          <p:cNvPr id="2" name="Text 0"/>
          <p:cNvSpPr txBox="1"/>
          <p:nvPr/>
        </p:nvSpPr>
        <p:spPr>
          <a:xfrm>
            <a:off x="749808" y="658368"/>
            <a:ext cx="5852160" cy="1298448"/>
          </a:xfrm>
          <a:prstGeom prst="rect">
            <a:avLst/>
          </a:prstGeom>
          <a:noFill/>
          <a:ln/>
        </p:spPr>
        <p:txBody>
          <a:bodyPr wrap="square" lIns="0" tIns="0" rIns="0" bIns="0" rtlCol="0" anchor="t">
            <a:normAutofit/>
          </a:bodyPr>
          <a:lstStyle/>
          <a:p>
            <a:pPr algn="l" indent="0" marL="0">
              <a:buNone/>
            </a:pPr>
            <a:r>
              <a:rPr lang="en-US" sz="3800" b="1" dirty="0">
                <a:solidFill>
                  <a:srgbClr val="FFFFFF"/>
                </a:solidFill>
                <a:latin typeface="Cambria" pitchFamily="34" charset="0"/>
                <a:ea typeface="Cambria" pitchFamily="34" charset="-122"/>
                <a:cs typeface="Cambria" pitchFamily="34" charset="-120"/>
              </a:rPr>
              <a:t>A safer path from source</a:t>
            </a:r>
            <a:endParaRPr lang="en-US" sz="3800" dirty="0"/>
          </a:p>
          <a:p>
            <a:pPr algn="l" indent="0" marL="0">
              <a:buNone/>
            </a:pPr>
            <a:r>
              <a:rPr lang="en-US" sz="3800" b="1" dirty="0">
                <a:solidFill>
                  <a:srgbClr val="FFFFFF"/>
                </a:solidFill>
                <a:latin typeface="Cambria" pitchFamily="34" charset="0"/>
                <a:ea typeface="Cambria" pitchFamily="34" charset="-122"/>
                <a:cs typeface="Cambria" pitchFamily="34" charset="-120"/>
              </a:rPr>
              <a:t>to running software</a:t>
            </a:r>
            <a:endParaRPr lang="en-US" sz="3800" dirty="0"/>
          </a:p>
        </p:txBody>
      </p:sp>
      <p:sp>
        <p:nvSpPr>
          <p:cNvPr id="3" name="Text 1"/>
          <p:cNvSpPr txBox="1"/>
          <p:nvPr/>
        </p:nvSpPr>
        <p:spPr>
          <a:xfrm>
            <a:off x="786384" y="2331720"/>
            <a:ext cx="5394960" cy="822960"/>
          </a:xfrm>
          <a:prstGeom prst="rect">
            <a:avLst/>
          </a:prstGeom>
          <a:noFill/>
          <a:ln/>
        </p:spPr>
        <p:txBody>
          <a:bodyPr wrap="square" lIns="0" tIns="0" rIns="0" bIns="0" rtlCol="0" anchor="t">
            <a:normAutofit/>
          </a:bodyPr>
          <a:lstStyle/>
          <a:p>
            <a:pPr algn="l" indent="0" marL="0">
              <a:buNone/>
            </a:pPr>
            <a:r>
              <a:rPr lang="en-US" sz="1900" dirty="0">
                <a:solidFill>
                  <a:srgbClr val="D5DEE5"/>
                </a:solidFill>
                <a:latin typeface="Calibri" pitchFamily="34" charset="0"/>
                <a:ea typeface="Calibri" pitchFamily="34" charset="-122"/>
                <a:cs typeface="Calibri" pitchFamily="34" charset="-120"/>
              </a:rPr>
              <a:t>Warden joins provenance, policy, GitOps and progressive delivery in one measured platform.</a:t>
            </a:r>
            <a:endParaRPr lang="en-US" sz="1900" dirty="0"/>
          </a:p>
        </p:txBody>
      </p:sp>
      <p:sp>
        <p:nvSpPr>
          <p:cNvPr id="4" name="Shape 2"/>
          <p:cNvSpPr/>
          <p:nvPr/>
        </p:nvSpPr>
        <p:spPr>
          <a:xfrm>
            <a:off x="7004304" y="1920240"/>
            <a:ext cx="566928" cy="566928"/>
          </a:xfrm>
          <a:prstGeom prst="ellipse">
            <a:avLst>
              <a:gd name="adj" fmla="val 19355"/>
            </a:avLst>
          </a:prstGeom>
          <a:solidFill>
            <a:srgbClr val="56B8AA"/>
          </a:solidFill>
          <a:ln w="12700">
            <a:solidFill>
              <a:srgbClr val="56B8AA">
                <a:alpha val="0"/>
              </a:srgbClr>
            </a:solidFill>
            <a:prstDash val="solid"/>
          </a:ln>
        </p:spPr>
      </p:sp>
      <p:sp>
        <p:nvSpPr>
          <p:cNvPr id="5" name="Text 3"/>
          <p:cNvSpPr txBox="1"/>
          <p:nvPr/>
        </p:nvSpPr>
        <p:spPr>
          <a:xfrm>
            <a:off x="6656832" y="2743200"/>
            <a:ext cx="1280160" cy="2743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TRACE</a:t>
            </a:r>
            <a:endParaRPr lang="en-US" sz="1200" dirty="0"/>
          </a:p>
        </p:txBody>
      </p:sp>
      <p:sp>
        <p:nvSpPr>
          <p:cNvPr id="6" name="Text 4"/>
          <p:cNvSpPr txBox="1"/>
          <p:nvPr/>
        </p:nvSpPr>
        <p:spPr>
          <a:xfrm>
            <a:off x="6611112" y="3182112"/>
            <a:ext cx="1371600" cy="694944"/>
          </a:xfrm>
          <a:prstGeom prst="rect">
            <a:avLst/>
          </a:prstGeom>
          <a:noFill/>
          <a:ln/>
        </p:spPr>
        <p:txBody>
          <a:bodyPr wrap="square" lIns="0" tIns="0" rIns="0" bIns="0" rtlCol="0" anchor="t">
            <a:normAutofit/>
          </a:bodyPr>
          <a:lstStyle/>
          <a:p>
            <a:pPr algn="ctr" indent="0" marL="0">
              <a:buNone/>
            </a:pPr>
            <a:r>
              <a:rPr lang="en-US" sz="1200" dirty="0">
                <a:solidFill>
                  <a:srgbClr val="C8D2DA"/>
                </a:solidFill>
                <a:latin typeface="Calibri" pitchFamily="34" charset="0"/>
                <a:ea typeface="Calibri" pitchFamily="34" charset="-122"/>
                <a:cs typeface="Calibri" pitchFamily="34" charset="-120"/>
              </a:rPr>
              <a:t>Signed artifacts</a:t>
            </a:r>
            <a:endParaRPr lang="en-US" sz="1200" dirty="0"/>
          </a:p>
          <a:p>
            <a:pPr algn="ctr" indent="0" marL="0">
              <a:buNone/>
            </a:pPr>
            <a:r>
              <a:rPr lang="en-US" sz="1200" dirty="0">
                <a:solidFill>
                  <a:srgbClr val="C8D2DA"/>
                </a:solidFill>
                <a:latin typeface="Calibri" pitchFamily="34" charset="0"/>
                <a:ea typeface="Calibri" pitchFamily="34" charset="-122"/>
                <a:cs typeface="Calibri" pitchFamily="34" charset="-120"/>
              </a:rPr>
              <a:t>with build evidence</a:t>
            </a:r>
            <a:endParaRPr lang="en-US" sz="1200" dirty="0"/>
          </a:p>
        </p:txBody>
      </p:sp>
      <p:sp>
        <p:nvSpPr>
          <p:cNvPr id="7" name="Shape 5"/>
          <p:cNvSpPr/>
          <p:nvPr/>
        </p:nvSpPr>
        <p:spPr>
          <a:xfrm>
            <a:off x="7662672" y="2212848"/>
            <a:ext cx="868680" cy="0"/>
          </a:xfrm>
          <a:prstGeom prst="line">
            <a:avLst/>
          </a:prstGeom>
          <a:noFill/>
          <a:ln w="19050">
            <a:solidFill>
              <a:srgbClr val="62727F"/>
            </a:solidFill>
            <a:prstDash val="solid"/>
            <a:tailEnd type="triangle"/>
          </a:ln>
        </p:spPr>
      </p:sp>
      <p:sp>
        <p:nvSpPr>
          <p:cNvPr id="8" name="Shape 6"/>
          <p:cNvSpPr/>
          <p:nvPr/>
        </p:nvSpPr>
        <p:spPr>
          <a:xfrm>
            <a:off x="8668512" y="1920240"/>
            <a:ext cx="566928" cy="566928"/>
          </a:xfrm>
          <a:prstGeom prst="ellipse">
            <a:avLst>
              <a:gd name="adj" fmla="val 19355"/>
            </a:avLst>
          </a:prstGeom>
          <a:solidFill>
            <a:srgbClr val="E7AD4B"/>
          </a:solidFill>
          <a:ln w="12700">
            <a:solidFill>
              <a:srgbClr val="E7AD4B">
                <a:alpha val="0"/>
              </a:srgbClr>
            </a:solidFill>
            <a:prstDash val="solid"/>
          </a:ln>
        </p:spPr>
      </p:sp>
      <p:sp>
        <p:nvSpPr>
          <p:cNvPr id="9" name="Text 7"/>
          <p:cNvSpPr txBox="1"/>
          <p:nvPr/>
        </p:nvSpPr>
        <p:spPr>
          <a:xfrm>
            <a:off x="8321040" y="2743200"/>
            <a:ext cx="1280160" cy="2743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p>
        </p:txBody>
      </p:sp>
      <p:sp>
        <p:nvSpPr>
          <p:cNvPr id="10" name="Text 8"/>
          <p:cNvSpPr txBox="1"/>
          <p:nvPr/>
        </p:nvSpPr>
        <p:spPr>
          <a:xfrm>
            <a:off x="8275320" y="3182112"/>
            <a:ext cx="1371600" cy="694944"/>
          </a:xfrm>
          <a:prstGeom prst="rect">
            <a:avLst/>
          </a:prstGeom>
          <a:noFill/>
          <a:ln/>
        </p:spPr>
        <p:txBody>
          <a:bodyPr wrap="square" lIns="0" tIns="0" rIns="0" bIns="0" rtlCol="0" anchor="t">
            <a:normAutofit/>
          </a:bodyPr>
          <a:lstStyle/>
          <a:p>
            <a:pPr algn="ctr" indent="0" marL="0">
              <a:buNone/>
            </a:pPr>
            <a:r>
              <a:rPr lang="en-US" sz="1200" dirty="0">
                <a:solidFill>
                  <a:srgbClr val="C8D2DA"/>
                </a:solidFill>
                <a:latin typeface="Calibri" pitchFamily="34" charset="0"/>
                <a:ea typeface="Calibri" pitchFamily="34" charset="-122"/>
                <a:cs typeface="Calibri" pitchFamily="34" charset="-120"/>
              </a:rPr>
              <a:t>Policies test</a:t>
            </a:r>
            <a:endParaRPr lang="en-US" sz="1200" dirty="0"/>
          </a:p>
          <a:p>
            <a:pPr algn="ctr" indent="0" marL="0">
              <a:buNone/>
            </a:pPr>
            <a:r>
              <a:rPr lang="en-US" sz="1200" dirty="0">
                <a:solidFill>
                  <a:srgbClr val="C8D2DA"/>
                </a:solidFill>
                <a:latin typeface="Calibri" pitchFamily="34" charset="0"/>
                <a:ea typeface="Calibri" pitchFamily="34" charset="-122"/>
                <a:cs typeface="Calibri" pitchFamily="34" charset="-120"/>
              </a:rPr>
              <a:t>what enters</a:t>
            </a:r>
            <a:endParaRPr lang="en-US" sz="1200" dirty="0"/>
          </a:p>
        </p:txBody>
      </p:sp>
      <p:sp>
        <p:nvSpPr>
          <p:cNvPr id="11" name="Shape 9"/>
          <p:cNvSpPr/>
          <p:nvPr/>
        </p:nvSpPr>
        <p:spPr>
          <a:xfrm>
            <a:off x="9326880" y="2212848"/>
            <a:ext cx="868680" cy="0"/>
          </a:xfrm>
          <a:prstGeom prst="line">
            <a:avLst/>
          </a:prstGeom>
          <a:noFill/>
          <a:ln w="19050">
            <a:solidFill>
              <a:srgbClr val="62727F"/>
            </a:solidFill>
            <a:prstDash val="solid"/>
            <a:tailEnd type="triangle"/>
          </a:ln>
        </p:spPr>
      </p:sp>
      <p:sp>
        <p:nvSpPr>
          <p:cNvPr id="12" name="Shape 10"/>
          <p:cNvSpPr/>
          <p:nvPr/>
        </p:nvSpPr>
        <p:spPr>
          <a:xfrm>
            <a:off x="10332720" y="1920240"/>
            <a:ext cx="566928" cy="566928"/>
          </a:xfrm>
          <a:prstGeom prst="ellipse">
            <a:avLst>
              <a:gd name="adj" fmla="val 19355"/>
            </a:avLst>
          </a:prstGeom>
          <a:solidFill>
            <a:srgbClr val="B9E769"/>
          </a:solidFill>
          <a:ln w="12700">
            <a:solidFill>
              <a:srgbClr val="B9E769">
                <a:alpha val="0"/>
              </a:srgbClr>
            </a:solidFill>
            <a:prstDash val="solid"/>
          </a:ln>
        </p:spPr>
      </p:sp>
      <p:sp>
        <p:nvSpPr>
          <p:cNvPr id="13" name="Text 11"/>
          <p:cNvSpPr txBox="1"/>
          <p:nvPr/>
        </p:nvSpPr>
        <p:spPr>
          <a:xfrm>
            <a:off x="9985248" y="2743200"/>
            <a:ext cx="1280160" cy="2743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RECOVER</a:t>
            </a:r>
            <a:endParaRPr lang="en-US" sz="1200" dirty="0"/>
          </a:p>
        </p:txBody>
      </p:sp>
      <p:sp>
        <p:nvSpPr>
          <p:cNvPr id="14" name="Text 12"/>
          <p:cNvSpPr txBox="1"/>
          <p:nvPr/>
        </p:nvSpPr>
        <p:spPr>
          <a:xfrm>
            <a:off x="9939528" y="3182112"/>
            <a:ext cx="1371600" cy="694944"/>
          </a:xfrm>
          <a:prstGeom prst="rect">
            <a:avLst/>
          </a:prstGeom>
          <a:noFill/>
          <a:ln/>
        </p:spPr>
        <p:txBody>
          <a:bodyPr wrap="square" lIns="0" tIns="0" rIns="0" bIns="0" rtlCol="0" anchor="t">
            <a:normAutofit/>
          </a:bodyPr>
          <a:lstStyle/>
          <a:p>
            <a:pPr algn="ctr" indent="0" marL="0">
              <a:buNone/>
            </a:pPr>
            <a:r>
              <a:rPr lang="en-US" sz="1200" dirty="0">
                <a:solidFill>
                  <a:srgbClr val="C8D2DA"/>
                </a:solidFill>
                <a:latin typeface="Calibri" pitchFamily="34" charset="0"/>
                <a:ea typeface="Calibri" pitchFamily="34" charset="-122"/>
                <a:cs typeface="Calibri" pitchFamily="34" charset="-120"/>
              </a:rPr>
              <a:t>Canaries stop</a:t>
            </a:r>
            <a:endParaRPr lang="en-US" sz="1200" dirty="0"/>
          </a:p>
          <a:p>
            <a:pPr algn="ctr" indent="0" marL="0">
              <a:buNone/>
            </a:pPr>
            <a:r>
              <a:rPr lang="en-US" sz="1200" dirty="0">
                <a:solidFill>
                  <a:srgbClr val="C8D2DA"/>
                </a:solidFill>
                <a:latin typeface="Calibri" pitchFamily="34" charset="0"/>
                <a:ea typeface="Calibri" pitchFamily="34" charset="-122"/>
                <a:cs typeface="Calibri" pitchFamily="34" charset="-120"/>
              </a:rPr>
              <a:t>faulty releases</a:t>
            </a:r>
            <a:endParaRPr lang="en-US" sz="1200" dirty="0"/>
          </a:p>
        </p:txBody>
      </p:sp>
      <p:sp>
        <p:nvSpPr>
          <p:cNvPr id="15" name="Shape 13"/>
          <p:cNvSpPr/>
          <p:nvPr/>
        </p:nvSpPr>
        <p:spPr>
          <a:xfrm>
            <a:off x="786384" y="4169664"/>
            <a:ext cx="10515600" cy="1078992"/>
          </a:xfrm>
          <a:prstGeom prst="roundRect">
            <a:avLst>
              <a:gd name="adj" fmla="val 10169"/>
            </a:avLst>
          </a:prstGeom>
          <a:solidFill>
            <a:srgbClr val="263340"/>
          </a:solidFill>
          <a:ln w="12700">
            <a:solidFill>
              <a:srgbClr val="263340">
                <a:alpha val="0"/>
              </a:srgbClr>
            </a:solidFill>
            <a:prstDash val="solid"/>
          </a:ln>
        </p:spPr>
      </p:sp>
      <p:sp>
        <p:nvSpPr>
          <p:cNvPr id="16" name="Text 14"/>
          <p:cNvSpPr txBox="1"/>
          <p:nvPr/>
        </p:nvSpPr>
        <p:spPr>
          <a:xfrm>
            <a:off x="1097280" y="4407408"/>
            <a:ext cx="1920240" cy="310896"/>
          </a:xfrm>
          <a:prstGeom prst="rect">
            <a:avLst/>
          </a:prstGeom>
          <a:noFill/>
          <a:ln/>
        </p:spPr>
        <p:txBody>
          <a:bodyPr wrap="square" lIns="0" tIns="0" rIns="0" bIns="0" rtlCol="0" anchor="ctr">
            <a:normAutofit/>
          </a:bodyPr>
          <a:lstStyle/>
          <a:p>
            <a:pPr algn="l" indent="0" marL="0">
              <a:buNone/>
            </a:pPr>
            <a:r>
              <a:rPr lang="en-US" sz="1700" b="1" dirty="0">
                <a:solidFill>
                  <a:srgbClr val="B9E769"/>
                </a:solidFill>
                <a:latin typeface="Calibri" pitchFamily="34" charset="0"/>
                <a:ea typeface="Calibri" pitchFamily="34" charset="-122"/>
                <a:cs typeface="Calibri" pitchFamily="34" charset="-120"/>
              </a:rPr>
              <a:t>What is proven</a:t>
            </a:r>
            <a:endParaRPr lang="en-US" sz="1700" dirty="0"/>
          </a:p>
        </p:txBody>
      </p:sp>
      <p:sp>
        <p:nvSpPr>
          <p:cNvPr id="17" name="Text 15"/>
          <p:cNvSpPr txBox="1"/>
          <p:nvPr/>
        </p:nvSpPr>
        <p:spPr>
          <a:xfrm>
            <a:off x="3090672" y="4407408"/>
            <a:ext cx="7498080" cy="420624"/>
          </a:xfrm>
          <a:prstGeom prst="rect">
            <a:avLst/>
          </a:prstGeom>
          <a:noFill/>
          <a:ln/>
        </p:spPr>
        <p:txBody>
          <a:bodyPr wrap="square" lIns="0" tIns="0" rIns="0" bIns="0" rtlCol="0" anchor="ctr">
            <a:normAutofit/>
          </a:bodyPr>
          <a:lstStyle/>
          <a:p>
            <a:pPr algn="l" indent="0" marL="0">
              <a:buNone/>
            </a:pPr>
            <a:r>
              <a:rPr lang="en-US" sz="1500" dirty="0">
                <a:solidFill>
                  <a:srgbClr val="FFFFFF"/>
                </a:solidFill>
                <a:latin typeface="Calibri" pitchFamily="34" charset="0"/>
                <a:ea typeface="Calibri" pitchFamily="34" charset="-122"/>
                <a:cs typeface="Calibri" pitchFamily="34" charset="-120"/>
              </a:rPr>
              <a:t>Local and AKS rebuilds  ·  15 controlled attacks  ·  canary rollback  ·  app-only delivery metrics</a:t>
            </a:r>
            <a:endParaRPr lang="en-US" sz="1500" dirty="0"/>
          </a:p>
        </p:txBody>
      </p:sp>
      <p:sp>
        <p:nvSpPr>
          <p:cNvPr id="18" name="Text 16"/>
          <p:cNvSpPr txBox="1"/>
          <p:nvPr/>
        </p:nvSpPr>
        <p:spPr>
          <a:xfrm>
            <a:off x="1097280" y="4846320"/>
            <a:ext cx="1920240" cy="256032"/>
          </a:xfrm>
          <a:prstGeom prst="rect">
            <a:avLst/>
          </a:prstGeom>
          <a:noFill/>
          <a:ln/>
        </p:spPr>
        <p:txBody>
          <a:bodyPr wrap="square" lIns="0" tIns="0" rIns="0" bIns="0" rtlCol="0" anchor="ctr">
            <a:normAutofit/>
          </a:bodyPr>
          <a:lstStyle/>
          <a:p>
            <a:pPr algn="l" indent="0" marL="0">
              <a:buNone/>
            </a:pPr>
            <a:r>
              <a:rPr lang="en-US" sz="1400" b="1" dirty="0">
                <a:solidFill>
                  <a:srgbClr val="F1BC6A"/>
                </a:solidFill>
                <a:latin typeface="Calibri" pitchFamily="34" charset="0"/>
                <a:ea typeface="Calibri" pitchFamily="34" charset="-122"/>
                <a:cs typeface="Calibri" pitchFamily="34" charset="-120"/>
              </a:rPr>
              <a:t>What is still open</a:t>
            </a:r>
            <a:endParaRPr lang="en-US" sz="1400" dirty="0"/>
          </a:p>
        </p:txBody>
      </p:sp>
      <p:sp>
        <p:nvSpPr>
          <p:cNvPr id="19" name="Text 17"/>
          <p:cNvSpPr txBox="1"/>
          <p:nvPr/>
        </p:nvSpPr>
        <p:spPr>
          <a:xfrm>
            <a:off x="3090672" y="4846320"/>
            <a:ext cx="7498080" cy="292608"/>
          </a:xfrm>
          <a:prstGeom prst="rect">
            <a:avLst/>
          </a:prstGeom>
          <a:noFill/>
          <a:ln/>
        </p:spPr>
        <p:txBody>
          <a:bodyPr wrap="square" lIns="0" tIns="0" rIns="0" bIns="0" rtlCol="0" anchor="ctr">
            <a:normAutofit/>
          </a:bodyPr>
          <a:lstStyle/>
          <a:p>
            <a:pPr algn="l" indent="0" marL="0">
              <a:buNone/>
            </a:pPr>
            <a:r>
              <a:rPr lang="en-US" sz="1300" dirty="0">
                <a:solidFill>
                  <a:srgbClr val="D9E1E7"/>
                </a:solidFill>
                <a:latin typeface="Calibri" pitchFamily="34" charset="0"/>
                <a:ea typeface="Calibri" pitchFamily="34" charset="-122"/>
                <a:cs typeface="Calibri" pitchFamily="34" charset="-120"/>
              </a:rPr>
              <a:t>Live managed Azure database verification  ·  reliable image-verification Deny gate</a:t>
            </a:r>
            <a:endParaRPr lang="en-US" sz="1300" dirty="0"/>
          </a:p>
        </p:txBody>
      </p:sp>
      <p:sp>
        <p:nvSpPr>
          <p:cNvPr id="20" name="Text 18"/>
          <p:cNvSpPr txBox="1"/>
          <p:nvPr/>
        </p:nvSpPr>
        <p:spPr>
          <a:xfrm>
            <a:off x="822960" y="6144768"/>
            <a:ext cx="5029200" cy="219456"/>
          </a:xfrm>
          <a:prstGeom prst="rect">
            <a:avLst/>
          </a:prstGeom>
          <a:noFill/>
          <a:ln/>
        </p:spPr>
        <p:txBody>
          <a:bodyPr wrap="square" lIns="0" tIns="0" rIns="0" bIns="0" rtlCol="0" anchor="ctr">
            <a:normAutofit/>
          </a:bodyPr>
          <a:lstStyle/>
          <a:p>
            <a:pPr algn="l" indent="0" marL="0">
              <a:buNone/>
            </a:pPr>
            <a:r>
              <a:rPr lang="en-US" sz="1000" dirty="0">
                <a:solidFill>
                  <a:srgbClr val="91A0AC"/>
                </a:solidFill>
                <a:latin typeface="Calibri" pitchFamily="34" charset="0"/>
                <a:ea typeface="Calibri" pitchFamily="34" charset="-122"/>
                <a:cs typeface="Calibri" pitchFamily="34" charset="-120"/>
              </a:rPr>
              <a:t>WARDEN  ·  CCD MINI PROJECT  ·  BATCH C2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REFERENCES</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Selected foundations</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Research and technical articles that informed the platform design.</a:t>
            </a:r>
            <a:endParaRPr lang="en-US" sz="1400" dirty="0"/>
          </a:p>
        </p:txBody>
      </p:sp>
      <p:sp>
        <p:nvSpPr>
          <p:cNvPr id="5" name="Shape 3"/>
          <p:cNvSpPr/>
          <p:nvPr/>
        </p:nvSpPr>
        <p:spPr>
          <a:xfrm>
            <a:off x="868680" y="1920240"/>
            <a:ext cx="219456" cy="219456"/>
          </a:xfrm>
          <a:prstGeom prst="ellipse">
            <a:avLst>
              <a:gd name="adj" fmla="val 50000"/>
            </a:avLst>
          </a:prstGeom>
          <a:solidFill>
            <a:srgbClr val="148A83"/>
          </a:solidFill>
          <a:ln w="12700">
            <a:solidFill>
              <a:srgbClr val="148A83">
                <a:alpha val="0"/>
              </a:srgbClr>
            </a:solidFill>
            <a:prstDash val="solid"/>
          </a:ln>
        </p:spPr>
      </p:sp>
      <p:sp>
        <p:nvSpPr>
          <p:cNvPr id="6" name="Text 4"/>
          <p:cNvSpPr txBox="1"/>
          <p:nvPr/>
        </p:nvSpPr>
        <p:spPr>
          <a:xfrm>
            <a:off x="1261872" y="1874520"/>
            <a:ext cx="9784080" cy="384048"/>
          </a:xfrm>
          <a:prstGeom prst="rect">
            <a:avLst/>
          </a:prstGeom>
          <a:noFill/>
          <a:ln/>
        </p:spPr>
        <p:txBody>
          <a:bodyPr wrap="square" lIns="0" tIns="0" rIns="0" bIns="0" rtlCol="0" anchor="ctr">
            <a:normAutofit/>
          </a:bodyPr>
          <a:lstStyle/>
          <a:p>
            <a:pPr algn="l" indent="0" marL="0">
              <a:buNone/>
            </a:pPr>
            <a:r>
              <a:rPr lang="en-US" sz="1300" dirty="0">
                <a:solidFill>
                  <a:srgbClr val="17212B"/>
                </a:solidFill>
                <a:latin typeface="Calibri" pitchFamily="34" charset="0"/>
                <a:ea typeface="Calibri" pitchFamily="34" charset="-122"/>
                <a:cs typeface="Calibri" pitchFamily="34" charset="-120"/>
              </a:rPr>
              <a:t>[1] Verma, A. et al. “Large-scale cluster management at Google with Borg.” EuroSys, 2015.</a:t>
            </a:r>
            <a:endParaRPr lang="en-US" sz="1300" dirty="0"/>
          </a:p>
        </p:txBody>
      </p:sp>
      <p:sp>
        <p:nvSpPr>
          <p:cNvPr id="7" name="Shape 5"/>
          <p:cNvSpPr/>
          <p:nvPr/>
        </p:nvSpPr>
        <p:spPr>
          <a:xfrm>
            <a:off x="868680" y="2496312"/>
            <a:ext cx="219456" cy="219456"/>
          </a:xfrm>
          <a:prstGeom prst="ellipse">
            <a:avLst>
              <a:gd name="adj" fmla="val 50000"/>
            </a:avLst>
          </a:prstGeom>
          <a:solidFill>
            <a:srgbClr val="56B8AA"/>
          </a:solidFill>
          <a:ln w="12700">
            <a:solidFill>
              <a:srgbClr val="56B8AA">
                <a:alpha val="0"/>
              </a:srgbClr>
            </a:solidFill>
            <a:prstDash val="solid"/>
          </a:ln>
        </p:spPr>
      </p:sp>
      <p:sp>
        <p:nvSpPr>
          <p:cNvPr id="8" name="Text 6"/>
          <p:cNvSpPr txBox="1"/>
          <p:nvPr/>
        </p:nvSpPr>
        <p:spPr>
          <a:xfrm>
            <a:off x="1261872" y="2450592"/>
            <a:ext cx="9784080" cy="384048"/>
          </a:xfrm>
          <a:prstGeom prst="rect">
            <a:avLst/>
          </a:prstGeom>
          <a:noFill/>
          <a:ln/>
        </p:spPr>
        <p:txBody>
          <a:bodyPr wrap="square" lIns="0" tIns="0" rIns="0" bIns="0" rtlCol="0" anchor="ctr">
            <a:normAutofit/>
          </a:bodyPr>
          <a:lstStyle/>
          <a:p>
            <a:pPr algn="l" indent="0" marL="0">
              <a:buNone/>
            </a:pPr>
            <a:r>
              <a:rPr lang="en-US" sz="1300" dirty="0">
                <a:solidFill>
                  <a:srgbClr val="17212B"/>
                </a:solidFill>
                <a:latin typeface="Calibri" pitchFamily="34" charset="0"/>
                <a:ea typeface="Calibri" pitchFamily="34" charset="-122"/>
                <a:cs typeface="Calibri" pitchFamily="34" charset="-120"/>
              </a:rPr>
              <a:t>[2] Torres-Arias, S. et al. “in-toto: Providing farm-to-table guarantees for bits and bytes.” USENIX Security, 2019.</a:t>
            </a:r>
            <a:endParaRPr lang="en-US" sz="1300" dirty="0"/>
          </a:p>
        </p:txBody>
      </p:sp>
      <p:sp>
        <p:nvSpPr>
          <p:cNvPr id="9" name="Shape 7"/>
          <p:cNvSpPr/>
          <p:nvPr/>
        </p:nvSpPr>
        <p:spPr>
          <a:xfrm>
            <a:off x="868680" y="3072384"/>
            <a:ext cx="219456" cy="219456"/>
          </a:xfrm>
          <a:prstGeom prst="ellipse">
            <a:avLst>
              <a:gd name="adj" fmla="val 50000"/>
            </a:avLst>
          </a:prstGeom>
          <a:solidFill>
            <a:srgbClr val="148A83"/>
          </a:solidFill>
          <a:ln w="12700">
            <a:solidFill>
              <a:srgbClr val="148A83">
                <a:alpha val="0"/>
              </a:srgbClr>
            </a:solidFill>
            <a:prstDash val="solid"/>
          </a:ln>
        </p:spPr>
      </p:sp>
      <p:sp>
        <p:nvSpPr>
          <p:cNvPr id="10" name="Text 8"/>
          <p:cNvSpPr txBox="1"/>
          <p:nvPr/>
        </p:nvSpPr>
        <p:spPr>
          <a:xfrm>
            <a:off x="1261872" y="3026664"/>
            <a:ext cx="9784080" cy="384048"/>
          </a:xfrm>
          <a:prstGeom prst="rect">
            <a:avLst/>
          </a:prstGeom>
          <a:noFill/>
          <a:ln/>
        </p:spPr>
        <p:txBody>
          <a:bodyPr wrap="square" lIns="0" tIns="0" rIns="0" bIns="0" rtlCol="0" anchor="ctr">
            <a:normAutofit/>
          </a:bodyPr>
          <a:lstStyle/>
          <a:p>
            <a:pPr algn="l" indent="0" marL="0">
              <a:buNone/>
            </a:pPr>
            <a:r>
              <a:rPr lang="en-US" sz="1300" dirty="0">
                <a:solidFill>
                  <a:srgbClr val="17212B"/>
                </a:solidFill>
                <a:latin typeface="Calibri" pitchFamily="34" charset="0"/>
                <a:ea typeface="Calibri" pitchFamily="34" charset="-122"/>
                <a:cs typeface="Calibri" pitchFamily="34" charset="-120"/>
              </a:rPr>
              <a:t>[3] SLSA. “Provenance: Build track.” Supply-chain Levels for Software Artifacts specification.</a:t>
            </a:r>
            <a:endParaRPr lang="en-US" sz="1300" dirty="0"/>
          </a:p>
        </p:txBody>
      </p:sp>
      <p:sp>
        <p:nvSpPr>
          <p:cNvPr id="11" name="Shape 9"/>
          <p:cNvSpPr/>
          <p:nvPr/>
        </p:nvSpPr>
        <p:spPr>
          <a:xfrm>
            <a:off x="868680" y="3648456"/>
            <a:ext cx="219456" cy="219456"/>
          </a:xfrm>
          <a:prstGeom prst="ellipse">
            <a:avLst>
              <a:gd name="adj" fmla="val 50000"/>
            </a:avLst>
          </a:prstGeom>
          <a:solidFill>
            <a:srgbClr val="56B8AA"/>
          </a:solidFill>
          <a:ln w="12700">
            <a:solidFill>
              <a:srgbClr val="56B8AA">
                <a:alpha val="0"/>
              </a:srgbClr>
            </a:solidFill>
            <a:prstDash val="solid"/>
          </a:ln>
        </p:spPr>
      </p:sp>
      <p:sp>
        <p:nvSpPr>
          <p:cNvPr id="12" name="Text 10"/>
          <p:cNvSpPr txBox="1"/>
          <p:nvPr/>
        </p:nvSpPr>
        <p:spPr>
          <a:xfrm>
            <a:off x="1261872" y="3602736"/>
            <a:ext cx="9784080" cy="384048"/>
          </a:xfrm>
          <a:prstGeom prst="rect">
            <a:avLst/>
          </a:prstGeom>
          <a:noFill/>
          <a:ln/>
        </p:spPr>
        <p:txBody>
          <a:bodyPr wrap="square" lIns="0" tIns="0" rIns="0" bIns="0" rtlCol="0" anchor="ctr">
            <a:normAutofit/>
          </a:bodyPr>
          <a:lstStyle/>
          <a:p>
            <a:pPr algn="l" indent="0" marL="0">
              <a:buNone/>
            </a:pPr>
            <a:r>
              <a:rPr lang="en-US" sz="1300" dirty="0">
                <a:solidFill>
                  <a:srgbClr val="17212B"/>
                </a:solidFill>
                <a:latin typeface="Calibri" pitchFamily="34" charset="0"/>
                <a:ea typeface="Calibri" pitchFamily="34" charset="-122"/>
                <a:cs typeface="Calibri" pitchFamily="34" charset="-120"/>
              </a:rPr>
              <a:t>[4] OpenGitOps. “OpenGitOps Principles.” Cloud Native Computing Foundation.</a:t>
            </a:r>
            <a:endParaRPr lang="en-US" sz="1300" dirty="0"/>
          </a:p>
        </p:txBody>
      </p:sp>
      <p:sp>
        <p:nvSpPr>
          <p:cNvPr id="13" name="Shape 11"/>
          <p:cNvSpPr/>
          <p:nvPr/>
        </p:nvSpPr>
        <p:spPr>
          <a:xfrm>
            <a:off x="868680" y="4224528"/>
            <a:ext cx="219456" cy="219456"/>
          </a:xfrm>
          <a:prstGeom prst="ellipse">
            <a:avLst>
              <a:gd name="adj" fmla="val 50000"/>
            </a:avLst>
          </a:prstGeom>
          <a:solidFill>
            <a:srgbClr val="148A83"/>
          </a:solidFill>
          <a:ln w="12700">
            <a:solidFill>
              <a:srgbClr val="148A83">
                <a:alpha val="0"/>
              </a:srgbClr>
            </a:solidFill>
            <a:prstDash val="solid"/>
          </a:ln>
        </p:spPr>
      </p:sp>
      <p:sp>
        <p:nvSpPr>
          <p:cNvPr id="14" name="Text 12"/>
          <p:cNvSpPr txBox="1"/>
          <p:nvPr/>
        </p:nvSpPr>
        <p:spPr>
          <a:xfrm>
            <a:off x="1261872" y="4178808"/>
            <a:ext cx="9784080" cy="384048"/>
          </a:xfrm>
          <a:prstGeom prst="rect">
            <a:avLst/>
          </a:prstGeom>
          <a:noFill/>
          <a:ln/>
        </p:spPr>
        <p:txBody>
          <a:bodyPr wrap="square" lIns="0" tIns="0" rIns="0" bIns="0" rtlCol="0" anchor="ctr">
            <a:normAutofit/>
          </a:bodyPr>
          <a:lstStyle/>
          <a:p>
            <a:pPr algn="l" indent="0" marL="0">
              <a:buNone/>
            </a:pPr>
            <a:r>
              <a:rPr lang="en-US" sz="1300" dirty="0">
                <a:solidFill>
                  <a:srgbClr val="17212B"/>
                </a:solidFill>
                <a:latin typeface="Calibri" pitchFamily="34" charset="0"/>
                <a:ea typeface="Calibri" pitchFamily="34" charset="-122"/>
                <a:cs typeface="Calibri" pitchFamily="34" charset="-120"/>
              </a:rPr>
              <a:t>[5] Beyer, B. et al. “Canarying Releases.” Site Reliability Engineering, Google.</a:t>
            </a:r>
            <a:endParaRPr lang="en-US" sz="1300" dirty="0"/>
          </a:p>
        </p:txBody>
      </p:sp>
      <p:sp>
        <p:nvSpPr>
          <p:cNvPr id="15" name="Shape 13"/>
          <p:cNvSpPr/>
          <p:nvPr/>
        </p:nvSpPr>
        <p:spPr>
          <a:xfrm>
            <a:off x="868680" y="4800600"/>
            <a:ext cx="219456" cy="219456"/>
          </a:xfrm>
          <a:prstGeom prst="ellipse">
            <a:avLst>
              <a:gd name="adj" fmla="val 50000"/>
            </a:avLst>
          </a:prstGeom>
          <a:solidFill>
            <a:srgbClr val="56B8AA"/>
          </a:solidFill>
          <a:ln w="12700">
            <a:solidFill>
              <a:srgbClr val="56B8AA">
                <a:alpha val="0"/>
              </a:srgbClr>
            </a:solidFill>
            <a:prstDash val="solid"/>
          </a:ln>
        </p:spPr>
      </p:sp>
      <p:sp>
        <p:nvSpPr>
          <p:cNvPr id="16" name="Text 14"/>
          <p:cNvSpPr txBox="1"/>
          <p:nvPr/>
        </p:nvSpPr>
        <p:spPr>
          <a:xfrm>
            <a:off x="1261872" y="4754880"/>
            <a:ext cx="9784080" cy="384048"/>
          </a:xfrm>
          <a:prstGeom prst="rect">
            <a:avLst/>
          </a:prstGeom>
          <a:noFill/>
          <a:ln/>
        </p:spPr>
        <p:txBody>
          <a:bodyPr wrap="square" lIns="0" tIns="0" rIns="0" bIns="0" rtlCol="0" anchor="ctr">
            <a:normAutofit/>
          </a:bodyPr>
          <a:lstStyle/>
          <a:p>
            <a:pPr algn="l" indent="0" marL="0">
              <a:buNone/>
            </a:pPr>
            <a:r>
              <a:rPr lang="en-US" sz="1300" dirty="0">
                <a:solidFill>
                  <a:srgbClr val="17212B"/>
                </a:solidFill>
                <a:latin typeface="Calibri" pitchFamily="34" charset="0"/>
                <a:ea typeface="Calibri" pitchFamily="34" charset="-122"/>
                <a:cs typeface="Calibri" pitchFamily="34" charset="-120"/>
              </a:rPr>
              <a:t>[6] Forsgren, N., Humble, J., Kim, G. Accelerate: The Science of Lean Software and DevOps. IT Revolution, 2018.</a:t>
            </a:r>
            <a:endParaRPr lang="en-US" sz="1300" dirty="0"/>
          </a:p>
        </p:txBody>
      </p:sp>
      <p:sp>
        <p:nvSpPr>
          <p:cNvPr id="17" name="Text 15"/>
          <p:cNvSpPr txBox="1"/>
          <p:nvPr/>
        </p:nvSpPr>
        <p:spPr>
          <a:xfrm>
            <a:off x="1261872" y="5687568"/>
            <a:ext cx="9235440" cy="320040"/>
          </a:xfrm>
          <a:prstGeom prst="rect">
            <a:avLst/>
          </a:prstGeom>
          <a:noFill/>
          <a:ln/>
        </p:spPr>
        <p:txBody>
          <a:bodyPr wrap="square" lIns="0" tIns="0" rIns="0" bIns="0" rtlCol="0" anchor="ctr">
            <a:normAutofit/>
          </a:bodyPr>
          <a:lstStyle/>
          <a:p>
            <a:pPr algn="l" indent="0" marL="0">
              <a:buNone/>
            </a:pPr>
            <a:r>
              <a:rPr lang="en-US" sz="1200" i="1" dirty="0">
                <a:solidFill>
                  <a:srgbClr val="536170"/>
                </a:solidFill>
                <a:latin typeface="Calibri" pitchFamily="34" charset="0"/>
                <a:ea typeface="Calibri" pitchFamily="34" charset="-122"/>
                <a:cs typeface="Calibri" pitchFamily="34" charset="-120"/>
              </a:rPr>
              <a:t>Experiment results are documented separately in the project report and evaluation evidence.</a:t>
            </a:r>
            <a:endParaRPr lang="en-US" sz="12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Batch C2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Warden — verifiable delivery for Kubernetes</dc:title>
  <dc:subject>CCD Mini Project — measured software delivery platform</dc:subject>
  <dc:creator>Warden Team</dc:creator>
  <cp:lastModifiedBy>Warden Team</cp:lastModifiedBy>
  <cp:revision>1</cp:revision>
  <dcterms:created xsi:type="dcterms:W3CDTF">2026-10-27T16:19:08Z</dcterms:created>
  <dcterms:modified xsi:type="dcterms:W3CDTF">2026-10-27T16:19:08Z</dcterms:modified>
</cp:coreProperties>
</file>